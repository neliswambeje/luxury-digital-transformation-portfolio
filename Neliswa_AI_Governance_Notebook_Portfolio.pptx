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45B0D7-3A60-456C-B788-757A01B16AAD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</dgm:pt>
    <dgm:pt modelId="{CCC874FB-D95D-4D89-AA53-283D6F3E61B5}">
      <dgm:prSet phldrT="[Text]" custT="1"/>
      <dgm:spPr/>
      <dgm:t>
        <a:bodyPr/>
        <a:lstStyle/>
        <a:p>
          <a:r>
            <a:rPr lang="en-US" sz="2000" dirty="0"/>
            <a:t>Data Sources</a:t>
          </a:r>
          <a:endParaRPr lang="en-GB" sz="2000" dirty="0"/>
        </a:p>
      </dgm:t>
    </dgm:pt>
    <dgm:pt modelId="{2F99FA81-A581-404E-9A4E-814386EF8AB2}" type="parTrans" cxnId="{ED2CB2DB-D8EF-4EAB-BCBA-9E2D420FF94C}">
      <dgm:prSet/>
      <dgm:spPr/>
      <dgm:t>
        <a:bodyPr/>
        <a:lstStyle/>
        <a:p>
          <a:endParaRPr lang="en-GB"/>
        </a:p>
      </dgm:t>
    </dgm:pt>
    <dgm:pt modelId="{7DCC7F7B-B482-40B3-8E26-060DD584658C}" type="sibTrans" cxnId="{ED2CB2DB-D8EF-4EAB-BCBA-9E2D420FF94C}">
      <dgm:prSet custT="1"/>
      <dgm:spPr/>
      <dgm:t>
        <a:bodyPr/>
        <a:lstStyle/>
        <a:p>
          <a:endParaRPr lang="en-GB" sz="1050"/>
        </a:p>
      </dgm:t>
    </dgm:pt>
    <dgm:pt modelId="{78D438CA-E325-426F-B5B5-EE95CBD5B1FD}">
      <dgm:prSet phldrT="[Text]" custT="1"/>
      <dgm:spPr/>
      <dgm:t>
        <a:bodyPr/>
        <a:lstStyle/>
        <a:p>
          <a:r>
            <a:rPr lang="en-US" sz="2000" dirty="0"/>
            <a:t>Predictive Modeling</a:t>
          </a:r>
          <a:endParaRPr lang="en-GB" sz="2000" dirty="0"/>
        </a:p>
      </dgm:t>
    </dgm:pt>
    <dgm:pt modelId="{25292A4C-C175-4491-99FE-21363E911B07}" type="parTrans" cxnId="{DA709F58-EAE5-430B-9F35-F4E523BFA243}">
      <dgm:prSet/>
      <dgm:spPr/>
      <dgm:t>
        <a:bodyPr/>
        <a:lstStyle/>
        <a:p>
          <a:endParaRPr lang="en-GB"/>
        </a:p>
      </dgm:t>
    </dgm:pt>
    <dgm:pt modelId="{9417E7EB-AF1F-4693-95CA-F4621B34E4AD}" type="sibTrans" cxnId="{DA709F58-EAE5-430B-9F35-F4E523BFA243}">
      <dgm:prSet custT="1"/>
      <dgm:spPr/>
      <dgm:t>
        <a:bodyPr/>
        <a:lstStyle/>
        <a:p>
          <a:endParaRPr lang="en-GB" sz="1050"/>
        </a:p>
      </dgm:t>
    </dgm:pt>
    <dgm:pt modelId="{46F5F3F6-0FA6-43C0-948F-1924C944EFDF}">
      <dgm:prSet phldrT="[Text]" custT="1"/>
      <dgm:spPr/>
      <dgm:t>
        <a:bodyPr/>
        <a:lstStyle/>
        <a:p>
          <a:r>
            <a:rPr lang="en-US" sz="2000" dirty="0"/>
            <a:t>Risk Scoring </a:t>
          </a:r>
          <a:endParaRPr lang="en-GB" sz="2000" dirty="0"/>
        </a:p>
      </dgm:t>
    </dgm:pt>
    <dgm:pt modelId="{A24700F1-5C1E-4ED2-8294-77CD2897D5FC}" type="parTrans" cxnId="{2DC71283-882C-404C-B56F-844C1B92EBD0}">
      <dgm:prSet/>
      <dgm:spPr/>
      <dgm:t>
        <a:bodyPr/>
        <a:lstStyle/>
        <a:p>
          <a:endParaRPr lang="en-GB"/>
        </a:p>
      </dgm:t>
    </dgm:pt>
    <dgm:pt modelId="{CDAC671F-D2CD-4524-BAC5-FD2508A582E7}" type="sibTrans" cxnId="{2DC71283-882C-404C-B56F-844C1B92EBD0}">
      <dgm:prSet custT="1"/>
      <dgm:spPr/>
      <dgm:t>
        <a:bodyPr/>
        <a:lstStyle/>
        <a:p>
          <a:endParaRPr lang="en-GB" sz="1050"/>
        </a:p>
      </dgm:t>
    </dgm:pt>
    <dgm:pt modelId="{A51E3DB0-C4A6-4F31-B9A8-1CF452273E1C}">
      <dgm:prSet custT="1"/>
      <dgm:spPr/>
      <dgm:t>
        <a:bodyPr/>
        <a:lstStyle/>
        <a:p>
          <a:r>
            <a:rPr lang="en-US" sz="2000" dirty="0"/>
            <a:t>Feature Engineering </a:t>
          </a:r>
          <a:endParaRPr lang="en-GB" sz="2000" dirty="0"/>
        </a:p>
      </dgm:t>
    </dgm:pt>
    <dgm:pt modelId="{9D544B68-0C7F-4D1D-A3C1-E56259B6F5BD}" type="parTrans" cxnId="{4DC4AAE5-1F12-4278-81E2-2291A45FFCEF}">
      <dgm:prSet/>
      <dgm:spPr/>
      <dgm:t>
        <a:bodyPr/>
        <a:lstStyle/>
        <a:p>
          <a:endParaRPr lang="en-GB"/>
        </a:p>
      </dgm:t>
    </dgm:pt>
    <dgm:pt modelId="{EC10F54B-CD37-4E35-8F25-BAFA8529423F}" type="sibTrans" cxnId="{4DC4AAE5-1F12-4278-81E2-2291A45FFCEF}">
      <dgm:prSet custT="1"/>
      <dgm:spPr/>
      <dgm:t>
        <a:bodyPr/>
        <a:lstStyle/>
        <a:p>
          <a:endParaRPr lang="en-GB" sz="1050"/>
        </a:p>
      </dgm:t>
    </dgm:pt>
    <dgm:pt modelId="{75370006-5E58-459B-AA25-03F8B60B352D}">
      <dgm:prSet custT="1"/>
      <dgm:spPr/>
      <dgm:t>
        <a:bodyPr/>
        <a:lstStyle/>
        <a:p>
          <a:r>
            <a:rPr lang="en-US" sz="2000" dirty="0"/>
            <a:t>Data Preparation </a:t>
          </a:r>
          <a:endParaRPr lang="en-GB" sz="2000" dirty="0"/>
        </a:p>
      </dgm:t>
    </dgm:pt>
    <dgm:pt modelId="{1A0C5201-0A36-4E20-A2F8-539DC97877E1}" type="parTrans" cxnId="{70056349-9FF6-4A5B-A328-287E71D8E808}">
      <dgm:prSet/>
      <dgm:spPr/>
      <dgm:t>
        <a:bodyPr/>
        <a:lstStyle/>
        <a:p>
          <a:endParaRPr lang="en-GB"/>
        </a:p>
      </dgm:t>
    </dgm:pt>
    <dgm:pt modelId="{26D4FD52-2D4E-444F-9411-6700BB0DC55A}" type="sibTrans" cxnId="{70056349-9FF6-4A5B-A328-287E71D8E808}">
      <dgm:prSet custT="1"/>
      <dgm:spPr/>
      <dgm:t>
        <a:bodyPr/>
        <a:lstStyle/>
        <a:p>
          <a:endParaRPr lang="en-GB" sz="1050"/>
        </a:p>
      </dgm:t>
    </dgm:pt>
    <dgm:pt modelId="{EEE6C266-7467-4548-A875-BB95EA8CDA88}">
      <dgm:prSet custT="1"/>
      <dgm:spPr/>
      <dgm:t>
        <a:bodyPr/>
        <a:lstStyle/>
        <a:p>
          <a:r>
            <a:rPr lang="en-US" sz="2000" dirty="0"/>
            <a:t>Executive Dashboards</a:t>
          </a:r>
          <a:endParaRPr lang="en-GB" sz="2000" dirty="0"/>
        </a:p>
      </dgm:t>
    </dgm:pt>
    <dgm:pt modelId="{C42B117D-D4EA-4B9A-8CA3-BDACBF92141F}" type="parTrans" cxnId="{5C453D0C-A896-438F-A248-F6B730141312}">
      <dgm:prSet/>
      <dgm:spPr/>
      <dgm:t>
        <a:bodyPr/>
        <a:lstStyle/>
        <a:p>
          <a:endParaRPr lang="en-GB"/>
        </a:p>
      </dgm:t>
    </dgm:pt>
    <dgm:pt modelId="{BC9CD6A3-05C8-49F9-8C2E-FC56953887F5}" type="sibTrans" cxnId="{5C453D0C-A896-438F-A248-F6B730141312}">
      <dgm:prSet/>
      <dgm:spPr/>
      <dgm:t>
        <a:bodyPr/>
        <a:lstStyle/>
        <a:p>
          <a:endParaRPr lang="en-GB"/>
        </a:p>
      </dgm:t>
    </dgm:pt>
    <dgm:pt modelId="{23516B7B-60A6-4402-B486-A401208CB5D9}" type="pres">
      <dgm:prSet presAssocID="{5345B0D7-3A60-456C-B788-757A01B16AAD}" presName="Name0" presStyleCnt="0">
        <dgm:presLayoutVars>
          <dgm:dir/>
          <dgm:resizeHandles val="exact"/>
        </dgm:presLayoutVars>
      </dgm:prSet>
      <dgm:spPr/>
    </dgm:pt>
    <dgm:pt modelId="{654E8CE4-0E21-4AC3-85C9-C4E015A89C92}" type="pres">
      <dgm:prSet presAssocID="{CCC874FB-D95D-4D89-AA53-283D6F3E61B5}" presName="node" presStyleLbl="node1" presStyleIdx="0" presStyleCnt="6">
        <dgm:presLayoutVars>
          <dgm:bulletEnabled val="1"/>
        </dgm:presLayoutVars>
      </dgm:prSet>
      <dgm:spPr/>
    </dgm:pt>
    <dgm:pt modelId="{21AD3997-C5B0-496B-8E71-050811250C99}" type="pres">
      <dgm:prSet presAssocID="{7DCC7F7B-B482-40B3-8E26-060DD584658C}" presName="sibTrans" presStyleLbl="sibTrans1D1" presStyleIdx="0" presStyleCnt="5"/>
      <dgm:spPr/>
    </dgm:pt>
    <dgm:pt modelId="{181362A2-9FAA-448D-8067-53896B00EBBD}" type="pres">
      <dgm:prSet presAssocID="{7DCC7F7B-B482-40B3-8E26-060DD584658C}" presName="connectorText" presStyleLbl="sibTrans1D1" presStyleIdx="0" presStyleCnt="5"/>
      <dgm:spPr/>
    </dgm:pt>
    <dgm:pt modelId="{79264F6A-5628-4C67-B1E5-90463D5BFF29}" type="pres">
      <dgm:prSet presAssocID="{75370006-5E58-459B-AA25-03F8B60B352D}" presName="node" presStyleLbl="node1" presStyleIdx="1" presStyleCnt="6">
        <dgm:presLayoutVars>
          <dgm:bulletEnabled val="1"/>
        </dgm:presLayoutVars>
      </dgm:prSet>
      <dgm:spPr/>
    </dgm:pt>
    <dgm:pt modelId="{BE41B22F-7279-404A-A559-9EECC58EC54F}" type="pres">
      <dgm:prSet presAssocID="{26D4FD52-2D4E-444F-9411-6700BB0DC55A}" presName="sibTrans" presStyleLbl="sibTrans1D1" presStyleIdx="1" presStyleCnt="5"/>
      <dgm:spPr/>
    </dgm:pt>
    <dgm:pt modelId="{62CFCFBC-681B-4EFC-A62D-DAC5298AB3CD}" type="pres">
      <dgm:prSet presAssocID="{26D4FD52-2D4E-444F-9411-6700BB0DC55A}" presName="connectorText" presStyleLbl="sibTrans1D1" presStyleIdx="1" presStyleCnt="5"/>
      <dgm:spPr/>
    </dgm:pt>
    <dgm:pt modelId="{1E8E3483-B55B-4E95-B4D7-418638B8465A}" type="pres">
      <dgm:prSet presAssocID="{A51E3DB0-C4A6-4F31-B9A8-1CF452273E1C}" presName="node" presStyleLbl="node1" presStyleIdx="2" presStyleCnt="6">
        <dgm:presLayoutVars>
          <dgm:bulletEnabled val="1"/>
        </dgm:presLayoutVars>
      </dgm:prSet>
      <dgm:spPr/>
    </dgm:pt>
    <dgm:pt modelId="{B0BF7BD1-407F-4F53-A0CD-2DDDA87A3B9B}" type="pres">
      <dgm:prSet presAssocID="{EC10F54B-CD37-4E35-8F25-BAFA8529423F}" presName="sibTrans" presStyleLbl="sibTrans1D1" presStyleIdx="2" presStyleCnt="5"/>
      <dgm:spPr/>
    </dgm:pt>
    <dgm:pt modelId="{7DC3873A-A0B8-4F5F-BEE2-E389EB71A1D1}" type="pres">
      <dgm:prSet presAssocID="{EC10F54B-CD37-4E35-8F25-BAFA8529423F}" presName="connectorText" presStyleLbl="sibTrans1D1" presStyleIdx="2" presStyleCnt="5"/>
      <dgm:spPr/>
    </dgm:pt>
    <dgm:pt modelId="{F9794B31-665C-46CC-932C-EB92DD3E4B4C}" type="pres">
      <dgm:prSet presAssocID="{78D438CA-E325-426F-B5B5-EE95CBD5B1FD}" presName="node" presStyleLbl="node1" presStyleIdx="3" presStyleCnt="6">
        <dgm:presLayoutVars>
          <dgm:bulletEnabled val="1"/>
        </dgm:presLayoutVars>
      </dgm:prSet>
      <dgm:spPr/>
    </dgm:pt>
    <dgm:pt modelId="{E01136F7-282B-4DDD-BB19-88EEFF9E36B9}" type="pres">
      <dgm:prSet presAssocID="{9417E7EB-AF1F-4693-95CA-F4621B34E4AD}" presName="sibTrans" presStyleLbl="sibTrans1D1" presStyleIdx="3" presStyleCnt="5"/>
      <dgm:spPr/>
    </dgm:pt>
    <dgm:pt modelId="{3FBB326F-6419-42FD-BD45-4CE496AD4663}" type="pres">
      <dgm:prSet presAssocID="{9417E7EB-AF1F-4693-95CA-F4621B34E4AD}" presName="connectorText" presStyleLbl="sibTrans1D1" presStyleIdx="3" presStyleCnt="5"/>
      <dgm:spPr/>
    </dgm:pt>
    <dgm:pt modelId="{04381B03-D16F-429A-8B3D-A6FA8A0A64A9}" type="pres">
      <dgm:prSet presAssocID="{46F5F3F6-0FA6-43C0-948F-1924C944EFDF}" presName="node" presStyleLbl="node1" presStyleIdx="4" presStyleCnt="6">
        <dgm:presLayoutVars>
          <dgm:bulletEnabled val="1"/>
        </dgm:presLayoutVars>
      </dgm:prSet>
      <dgm:spPr/>
    </dgm:pt>
    <dgm:pt modelId="{39D9E981-3118-4F60-A07A-629E30C6C5FF}" type="pres">
      <dgm:prSet presAssocID="{CDAC671F-D2CD-4524-BAC5-FD2508A582E7}" presName="sibTrans" presStyleLbl="sibTrans1D1" presStyleIdx="4" presStyleCnt="5"/>
      <dgm:spPr/>
    </dgm:pt>
    <dgm:pt modelId="{D8F15B65-EB79-42B9-B6FB-1D59DC4E0C49}" type="pres">
      <dgm:prSet presAssocID="{CDAC671F-D2CD-4524-BAC5-FD2508A582E7}" presName="connectorText" presStyleLbl="sibTrans1D1" presStyleIdx="4" presStyleCnt="5"/>
      <dgm:spPr/>
    </dgm:pt>
    <dgm:pt modelId="{FB4E1A16-06AA-42F1-AD93-DCDAF7AA44BE}" type="pres">
      <dgm:prSet presAssocID="{EEE6C266-7467-4548-A875-BB95EA8CDA88}" presName="node" presStyleLbl="node1" presStyleIdx="5" presStyleCnt="6">
        <dgm:presLayoutVars>
          <dgm:bulletEnabled val="1"/>
        </dgm:presLayoutVars>
      </dgm:prSet>
      <dgm:spPr/>
    </dgm:pt>
  </dgm:ptLst>
  <dgm:cxnLst>
    <dgm:cxn modelId="{5C453D0C-A896-438F-A248-F6B730141312}" srcId="{5345B0D7-3A60-456C-B788-757A01B16AAD}" destId="{EEE6C266-7467-4548-A875-BB95EA8CDA88}" srcOrd="5" destOrd="0" parTransId="{C42B117D-D4EA-4B9A-8CA3-BDACBF92141F}" sibTransId="{BC9CD6A3-05C8-49F9-8C2E-FC56953887F5}"/>
    <dgm:cxn modelId="{A4D7A611-7A76-4272-910F-A1239584CEEF}" type="presOf" srcId="{9417E7EB-AF1F-4693-95CA-F4621B34E4AD}" destId="{3FBB326F-6419-42FD-BD45-4CE496AD4663}" srcOrd="1" destOrd="0" presId="urn:microsoft.com/office/officeart/2005/8/layout/bProcess3"/>
    <dgm:cxn modelId="{96B25112-B52C-453F-BFEE-265EF1C7E549}" type="presOf" srcId="{CDAC671F-D2CD-4524-BAC5-FD2508A582E7}" destId="{39D9E981-3118-4F60-A07A-629E30C6C5FF}" srcOrd="0" destOrd="0" presId="urn:microsoft.com/office/officeart/2005/8/layout/bProcess3"/>
    <dgm:cxn modelId="{92D1A91A-F72F-4E10-9D56-DA2DD9F2955F}" type="presOf" srcId="{EC10F54B-CD37-4E35-8F25-BAFA8529423F}" destId="{7DC3873A-A0B8-4F5F-BEE2-E389EB71A1D1}" srcOrd="1" destOrd="0" presId="urn:microsoft.com/office/officeart/2005/8/layout/bProcess3"/>
    <dgm:cxn modelId="{ED96D92E-9021-409C-BBFF-422D41E26853}" type="presOf" srcId="{5345B0D7-3A60-456C-B788-757A01B16AAD}" destId="{23516B7B-60A6-4402-B486-A401208CB5D9}" srcOrd="0" destOrd="0" presId="urn:microsoft.com/office/officeart/2005/8/layout/bProcess3"/>
    <dgm:cxn modelId="{8108F02F-5E7C-4AAB-9051-CEE928F7BF4C}" type="presOf" srcId="{CCC874FB-D95D-4D89-AA53-283D6F3E61B5}" destId="{654E8CE4-0E21-4AC3-85C9-C4E015A89C92}" srcOrd="0" destOrd="0" presId="urn:microsoft.com/office/officeart/2005/8/layout/bProcess3"/>
    <dgm:cxn modelId="{3CF72363-BE84-4655-8FD3-80DF60AEC422}" type="presOf" srcId="{26D4FD52-2D4E-444F-9411-6700BB0DC55A}" destId="{62CFCFBC-681B-4EFC-A62D-DAC5298AB3CD}" srcOrd="1" destOrd="0" presId="urn:microsoft.com/office/officeart/2005/8/layout/bProcess3"/>
    <dgm:cxn modelId="{6DD58C64-8B4F-4E1D-AAB0-88935B225C6E}" type="presOf" srcId="{78D438CA-E325-426F-B5B5-EE95CBD5B1FD}" destId="{F9794B31-665C-46CC-932C-EB92DD3E4B4C}" srcOrd="0" destOrd="0" presId="urn:microsoft.com/office/officeart/2005/8/layout/bProcess3"/>
    <dgm:cxn modelId="{71CDB444-6A10-4155-8121-C3DA5AB65F73}" type="presOf" srcId="{75370006-5E58-459B-AA25-03F8B60B352D}" destId="{79264F6A-5628-4C67-B1E5-90463D5BFF29}" srcOrd="0" destOrd="0" presId="urn:microsoft.com/office/officeart/2005/8/layout/bProcess3"/>
    <dgm:cxn modelId="{DFFB3765-06E0-45DF-9A23-7876662A4617}" type="presOf" srcId="{CDAC671F-D2CD-4524-BAC5-FD2508A582E7}" destId="{D8F15B65-EB79-42B9-B6FB-1D59DC4E0C49}" srcOrd="1" destOrd="0" presId="urn:microsoft.com/office/officeart/2005/8/layout/bProcess3"/>
    <dgm:cxn modelId="{70056349-9FF6-4A5B-A328-287E71D8E808}" srcId="{5345B0D7-3A60-456C-B788-757A01B16AAD}" destId="{75370006-5E58-459B-AA25-03F8B60B352D}" srcOrd="1" destOrd="0" parTransId="{1A0C5201-0A36-4E20-A2F8-539DC97877E1}" sibTransId="{26D4FD52-2D4E-444F-9411-6700BB0DC55A}"/>
    <dgm:cxn modelId="{3F54534F-3768-466F-913E-0CA4A16DCF3B}" type="presOf" srcId="{9417E7EB-AF1F-4693-95CA-F4621B34E4AD}" destId="{E01136F7-282B-4DDD-BB19-88EEFF9E36B9}" srcOrd="0" destOrd="0" presId="urn:microsoft.com/office/officeart/2005/8/layout/bProcess3"/>
    <dgm:cxn modelId="{DA709F58-EAE5-430B-9F35-F4E523BFA243}" srcId="{5345B0D7-3A60-456C-B788-757A01B16AAD}" destId="{78D438CA-E325-426F-B5B5-EE95CBD5B1FD}" srcOrd="3" destOrd="0" parTransId="{25292A4C-C175-4491-99FE-21363E911B07}" sibTransId="{9417E7EB-AF1F-4693-95CA-F4621B34E4AD}"/>
    <dgm:cxn modelId="{FE090B5A-A844-4FF5-8E99-46AC295741FE}" type="presOf" srcId="{7DCC7F7B-B482-40B3-8E26-060DD584658C}" destId="{21AD3997-C5B0-496B-8E71-050811250C99}" srcOrd="0" destOrd="0" presId="urn:microsoft.com/office/officeart/2005/8/layout/bProcess3"/>
    <dgm:cxn modelId="{2DC71283-882C-404C-B56F-844C1B92EBD0}" srcId="{5345B0D7-3A60-456C-B788-757A01B16AAD}" destId="{46F5F3F6-0FA6-43C0-948F-1924C944EFDF}" srcOrd="4" destOrd="0" parTransId="{A24700F1-5C1E-4ED2-8294-77CD2897D5FC}" sibTransId="{CDAC671F-D2CD-4524-BAC5-FD2508A582E7}"/>
    <dgm:cxn modelId="{3BDCB083-53B2-468C-925F-192ED94DF684}" type="presOf" srcId="{7DCC7F7B-B482-40B3-8E26-060DD584658C}" destId="{181362A2-9FAA-448D-8067-53896B00EBBD}" srcOrd="1" destOrd="0" presId="urn:microsoft.com/office/officeart/2005/8/layout/bProcess3"/>
    <dgm:cxn modelId="{9AD46EA7-13E4-4D9A-B448-BBF6D1353D7A}" type="presOf" srcId="{EEE6C266-7467-4548-A875-BB95EA8CDA88}" destId="{FB4E1A16-06AA-42F1-AD93-DCDAF7AA44BE}" srcOrd="0" destOrd="0" presId="urn:microsoft.com/office/officeart/2005/8/layout/bProcess3"/>
    <dgm:cxn modelId="{F0666ACA-327C-4015-90B6-F9D39AF1A56E}" type="presOf" srcId="{26D4FD52-2D4E-444F-9411-6700BB0DC55A}" destId="{BE41B22F-7279-404A-A559-9EECC58EC54F}" srcOrd="0" destOrd="0" presId="urn:microsoft.com/office/officeart/2005/8/layout/bProcess3"/>
    <dgm:cxn modelId="{E3DF8ED5-C5FA-4E7A-98D2-1020E5741084}" type="presOf" srcId="{EC10F54B-CD37-4E35-8F25-BAFA8529423F}" destId="{B0BF7BD1-407F-4F53-A0CD-2DDDA87A3B9B}" srcOrd="0" destOrd="0" presId="urn:microsoft.com/office/officeart/2005/8/layout/bProcess3"/>
    <dgm:cxn modelId="{ED2CB2DB-D8EF-4EAB-BCBA-9E2D420FF94C}" srcId="{5345B0D7-3A60-456C-B788-757A01B16AAD}" destId="{CCC874FB-D95D-4D89-AA53-283D6F3E61B5}" srcOrd="0" destOrd="0" parTransId="{2F99FA81-A581-404E-9A4E-814386EF8AB2}" sibTransId="{7DCC7F7B-B482-40B3-8E26-060DD584658C}"/>
    <dgm:cxn modelId="{539595DC-8332-4C11-A3AD-165B491447DD}" type="presOf" srcId="{A51E3DB0-C4A6-4F31-B9A8-1CF452273E1C}" destId="{1E8E3483-B55B-4E95-B4D7-418638B8465A}" srcOrd="0" destOrd="0" presId="urn:microsoft.com/office/officeart/2005/8/layout/bProcess3"/>
    <dgm:cxn modelId="{4DC4AAE5-1F12-4278-81E2-2291A45FFCEF}" srcId="{5345B0D7-3A60-456C-B788-757A01B16AAD}" destId="{A51E3DB0-C4A6-4F31-B9A8-1CF452273E1C}" srcOrd="2" destOrd="0" parTransId="{9D544B68-0C7F-4D1D-A3C1-E56259B6F5BD}" sibTransId="{EC10F54B-CD37-4E35-8F25-BAFA8529423F}"/>
    <dgm:cxn modelId="{C3DA00F4-D7AE-427F-B005-A6605E6B69E4}" type="presOf" srcId="{46F5F3F6-0FA6-43C0-948F-1924C944EFDF}" destId="{04381B03-D16F-429A-8B3D-A6FA8A0A64A9}" srcOrd="0" destOrd="0" presId="urn:microsoft.com/office/officeart/2005/8/layout/bProcess3"/>
    <dgm:cxn modelId="{45AF20E6-E896-42D8-9FED-81F1D00DF9FF}" type="presParOf" srcId="{23516B7B-60A6-4402-B486-A401208CB5D9}" destId="{654E8CE4-0E21-4AC3-85C9-C4E015A89C92}" srcOrd="0" destOrd="0" presId="urn:microsoft.com/office/officeart/2005/8/layout/bProcess3"/>
    <dgm:cxn modelId="{C0D41242-284E-4093-BBFF-6E45A1BA91F6}" type="presParOf" srcId="{23516B7B-60A6-4402-B486-A401208CB5D9}" destId="{21AD3997-C5B0-496B-8E71-050811250C99}" srcOrd="1" destOrd="0" presId="urn:microsoft.com/office/officeart/2005/8/layout/bProcess3"/>
    <dgm:cxn modelId="{4556A49E-B111-4DB2-A7D9-84420144FDE1}" type="presParOf" srcId="{21AD3997-C5B0-496B-8E71-050811250C99}" destId="{181362A2-9FAA-448D-8067-53896B00EBBD}" srcOrd="0" destOrd="0" presId="urn:microsoft.com/office/officeart/2005/8/layout/bProcess3"/>
    <dgm:cxn modelId="{DAE80C43-2AB2-4645-AAE6-93ED46F8E39B}" type="presParOf" srcId="{23516B7B-60A6-4402-B486-A401208CB5D9}" destId="{79264F6A-5628-4C67-B1E5-90463D5BFF29}" srcOrd="2" destOrd="0" presId="urn:microsoft.com/office/officeart/2005/8/layout/bProcess3"/>
    <dgm:cxn modelId="{6594E646-B9E0-4813-BD6B-387C3898D867}" type="presParOf" srcId="{23516B7B-60A6-4402-B486-A401208CB5D9}" destId="{BE41B22F-7279-404A-A559-9EECC58EC54F}" srcOrd="3" destOrd="0" presId="urn:microsoft.com/office/officeart/2005/8/layout/bProcess3"/>
    <dgm:cxn modelId="{8530512E-D184-49D9-8528-05ABEB001629}" type="presParOf" srcId="{BE41B22F-7279-404A-A559-9EECC58EC54F}" destId="{62CFCFBC-681B-4EFC-A62D-DAC5298AB3CD}" srcOrd="0" destOrd="0" presId="urn:microsoft.com/office/officeart/2005/8/layout/bProcess3"/>
    <dgm:cxn modelId="{5EBA6CB4-8C72-4ADF-85F0-AE9A5311A221}" type="presParOf" srcId="{23516B7B-60A6-4402-B486-A401208CB5D9}" destId="{1E8E3483-B55B-4E95-B4D7-418638B8465A}" srcOrd="4" destOrd="0" presId="urn:microsoft.com/office/officeart/2005/8/layout/bProcess3"/>
    <dgm:cxn modelId="{33226417-91CC-40AA-8A5F-1D7AFC62E84A}" type="presParOf" srcId="{23516B7B-60A6-4402-B486-A401208CB5D9}" destId="{B0BF7BD1-407F-4F53-A0CD-2DDDA87A3B9B}" srcOrd="5" destOrd="0" presId="urn:microsoft.com/office/officeart/2005/8/layout/bProcess3"/>
    <dgm:cxn modelId="{1150AEB9-5191-4572-B6F8-CA2B1F755DD2}" type="presParOf" srcId="{B0BF7BD1-407F-4F53-A0CD-2DDDA87A3B9B}" destId="{7DC3873A-A0B8-4F5F-BEE2-E389EB71A1D1}" srcOrd="0" destOrd="0" presId="urn:microsoft.com/office/officeart/2005/8/layout/bProcess3"/>
    <dgm:cxn modelId="{CAF826A8-9B0C-4DE7-B4A2-60B940B71908}" type="presParOf" srcId="{23516B7B-60A6-4402-B486-A401208CB5D9}" destId="{F9794B31-665C-46CC-932C-EB92DD3E4B4C}" srcOrd="6" destOrd="0" presId="urn:microsoft.com/office/officeart/2005/8/layout/bProcess3"/>
    <dgm:cxn modelId="{7753A8DA-FD7B-4428-B127-9A261A20B6A1}" type="presParOf" srcId="{23516B7B-60A6-4402-B486-A401208CB5D9}" destId="{E01136F7-282B-4DDD-BB19-88EEFF9E36B9}" srcOrd="7" destOrd="0" presId="urn:microsoft.com/office/officeart/2005/8/layout/bProcess3"/>
    <dgm:cxn modelId="{0AF49E70-8100-4C52-B140-78F48FE2F9D1}" type="presParOf" srcId="{E01136F7-282B-4DDD-BB19-88EEFF9E36B9}" destId="{3FBB326F-6419-42FD-BD45-4CE496AD4663}" srcOrd="0" destOrd="0" presId="urn:microsoft.com/office/officeart/2005/8/layout/bProcess3"/>
    <dgm:cxn modelId="{67F72663-3CDB-48FE-8B5E-0F578E0D15A4}" type="presParOf" srcId="{23516B7B-60A6-4402-B486-A401208CB5D9}" destId="{04381B03-D16F-429A-8B3D-A6FA8A0A64A9}" srcOrd="8" destOrd="0" presId="urn:microsoft.com/office/officeart/2005/8/layout/bProcess3"/>
    <dgm:cxn modelId="{0FD5B554-7112-4B81-9E2E-8F5FC43BAD59}" type="presParOf" srcId="{23516B7B-60A6-4402-B486-A401208CB5D9}" destId="{39D9E981-3118-4F60-A07A-629E30C6C5FF}" srcOrd="9" destOrd="0" presId="urn:microsoft.com/office/officeart/2005/8/layout/bProcess3"/>
    <dgm:cxn modelId="{59440C8E-75BC-47D8-8DAB-5CC3DF17888B}" type="presParOf" srcId="{39D9E981-3118-4F60-A07A-629E30C6C5FF}" destId="{D8F15B65-EB79-42B9-B6FB-1D59DC4E0C49}" srcOrd="0" destOrd="0" presId="urn:microsoft.com/office/officeart/2005/8/layout/bProcess3"/>
    <dgm:cxn modelId="{C9027DBE-A76A-4690-8EFD-8F0EBD81F23F}" type="presParOf" srcId="{23516B7B-60A6-4402-B486-A401208CB5D9}" destId="{FB4E1A16-06AA-42F1-AD93-DCDAF7AA44BE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D3997-C5B0-496B-8E71-050811250C99}">
      <dsp:nvSpPr>
        <dsp:cNvPr id="0" name=""/>
        <dsp:cNvSpPr/>
      </dsp:nvSpPr>
      <dsp:spPr>
        <a:xfrm>
          <a:off x="2180929" y="772967"/>
          <a:ext cx="470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2403460" y="816183"/>
        <a:ext cx="25034" cy="5006"/>
      </dsp:txXfrm>
    </dsp:sp>
    <dsp:sp modelId="{654E8CE4-0E21-4AC3-85C9-C4E015A89C92}">
      <dsp:nvSpPr>
        <dsp:cNvPr id="0" name=""/>
        <dsp:cNvSpPr/>
      </dsp:nvSpPr>
      <dsp:spPr>
        <a:xfrm>
          <a:off x="5783" y="165603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Sources</a:t>
          </a:r>
          <a:endParaRPr lang="en-GB" sz="2000" kern="1200" dirty="0"/>
        </a:p>
      </dsp:txBody>
      <dsp:txXfrm>
        <a:off x="5783" y="165603"/>
        <a:ext cx="2176946" cy="1306167"/>
      </dsp:txXfrm>
    </dsp:sp>
    <dsp:sp modelId="{BE41B22F-7279-404A-A559-9EECC58EC54F}">
      <dsp:nvSpPr>
        <dsp:cNvPr id="0" name=""/>
        <dsp:cNvSpPr/>
      </dsp:nvSpPr>
      <dsp:spPr>
        <a:xfrm>
          <a:off x="4858573" y="772967"/>
          <a:ext cx="470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5081105" y="816183"/>
        <a:ext cx="25034" cy="5006"/>
      </dsp:txXfrm>
    </dsp:sp>
    <dsp:sp modelId="{79264F6A-5628-4C67-B1E5-90463D5BFF29}">
      <dsp:nvSpPr>
        <dsp:cNvPr id="0" name=""/>
        <dsp:cNvSpPr/>
      </dsp:nvSpPr>
      <dsp:spPr>
        <a:xfrm>
          <a:off x="2683427" y="165603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Preparation </a:t>
          </a:r>
          <a:endParaRPr lang="en-GB" sz="2000" kern="1200" dirty="0"/>
        </a:p>
      </dsp:txBody>
      <dsp:txXfrm>
        <a:off x="2683427" y="165603"/>
        <a:ext cx="2176946" cy="1306167"/>
      </dsp:txXfrm>
    </dsp:sp>
    <dsp:sp modelId="{B0BF7BD1-407F-4F53-A0CD-2DDDA87A3B9B}">
      <dsp:nvSpPr>
        <dsp:cNvPr id="0" name=""/>
        <dsp:cNvSpPr/>
      </dsp:nvSpPr>
      <dsp:spPr>
        <a:xfrm>
          <a:off x="1094256" y="1469971"/>
          <a:ext cx="5355288" cy="470097"/>
        </a:xfrm>
        <a:custGeom>
          <a:avLst/>
          <a:gdLst/>
          <a:ahLst/>
          <a:cxnLst/>
          <a:rect l="0" t="0" r="0" b="0"/>
          <a:pathLst>
            <a:path>
              <a:moveTo>
                <a:pt x="5355288" y="0"/>
              </a:moveTo>
              <a:lnTo>
                <a:pt x="5355288" y="252148"/>
              </a:lnTo>
              <a:lnTo>
                <a:pt x="0" y="252148"/>
              </a:lnTo>
              <a:lnTo>
                <a:pt x="0" y="47009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3637434" y="1702516"/>
        <a:ext cx="268932" cy="5006"/>
      </dsp:txXfrm>
    </dsp:sp>
    <dsp:sp modelId="{1E8E3483-B55B-4E95-B4D7-418638B8465A}">
      <dsp:nvSpPr>
        <dsp:cNvPr id="0" name=""/>
        <dsp:cNvSpPr/>
      </dsp:nvSpPr>
      <dsp:spPr>
        <a:xfrm>
          <a:off x="5361071" y="165603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Feature Engineering </a:t>
          </a:r>
          <a:endParaRPr lang="en-GB" sz="2000" kern="1200" dirty="0"/>
        </a:p>
      </dsp:txBody>
      <dsp:txXfrm>
        <a:off x="5361071" y="165603"/>
        <a:ext cx="2176946" cy="1306167"/>
      </dsp:txXfrm>
    </dsp:sp>
    <dsp:sp modelId="{E01136F7-282B-4DDD-BB19-88EEFF9E36B9}">
      <dsp:nvSpPr>
        <dsp:cNvPr id="0" name=""/>
        <dsp:cNvSpPr/>
      </dsp:nvSpPr>
      <dsp:spPr>
        <a:xfrm>
          <a:off x="2180929" y="2579832"/>
          <a:ext cx="470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2403460" y="2623049"/>
        <a:ext cx="25034" cy="5006"/>
      </dsp:txXfrm>
    </dsp:sp>
    <dsp:sp modelId="{F9794B31-665C-46CC-932C-EB92DD3E4B4C}">
      <dsp:nvSpPr>
        <dsp:cNvPr id="0" name=""/>
        <dsp:cNvSpPr/>
      </dsp:nvSpPr>
      <dsp:spPr>
        <a:xfrm>
          <a:off x="5783" y="1972468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Predictive Modeling</a:t>
          </a:r>
          <a:endParaRPr lang="en-GB" sz="2000" kern="1200" dirty="0"/>
        </a:p>
      </dsp:txBody>
      <dsp:txXfrm>
        <a:off x="5783" y="1972468"/>
        <a:ext cx="2176946" cy="1306167"/>
      </dsp:txXfrm>
    </dsp:sp>
    <dsp:sp modelId="{39D9E981-3118-4F60-A07A-629E30C6C5FF}">
      <dsp:nvSpPr>
        <dsp:cNvPr id="0" name=""/>
        <dsp:cNvSpPr/>
      </dsp:nvSpPr>
      <dsp:spPr>
        <a:xfrm>
          <a:off x="4858573" y="2579832"/>
          <a:ext cx="47009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097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50" kern="1200"/>
        </a:p>
      </dsp:txBody>
      <dsp:txXfrm>
        <a:off x="5081105" y="2623049"/>
        <a:ext cx="25034" cy="5006"/>
      </dsp:txXfrm>
    </dsp:sp>
    <dsp:sp modelId="{04381B03-D16F-429A-8B3D-A6FA8A0A64A9}">
      <dsp:nvSpPr>
        <dsp:cNvPr id="0" name=""/>
        <dsp:cNvSpPr/>
      </dsp:nvSpPr>
      <dsp:spPr>
        <a:xfrm>
          <a:off x="2683427" y="1972468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Risk Scoring </a:t>
          </a:r>
          <a:endParaRPr lang="en-GB" sz="2000" kern="1200" dirty="0"/>
        </a:p>
      </dsp:txBody>
      <dsp:txXfrm>
        <a:off x="2683427" y="1972468"/>
        <a:ext cx="2176946" cy="1306167"/>
      </dsp:txXfrm>
    </dsp:sp>
    <dsp:sp modelId="{FB4E1A16-06AA-42F1-AD93-DCDAF7AA44BE}">
      <dsp:nvSpPr>
        <dsp:cNvPr id="0" name=""/>
        <dsp:cNvSpPr/>
      </dsp:nvSpPr>
      <dsp:spPr>
        <a:xfrm>
          <a:off x="5361071" y="1972468"/>
          <a:ext cx="2176946" cy="130616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Executive Dashboards</a:t>
          </a:r>
          <a:endParaRPr lang="en-GB" sz="2000" kern="1200" dirty="0"/>
        </a:p>
      </dsp:txBody>
      <dsp:txXfrm>
        <a:off x="5361071" y="1972468"/>
        <a:ext cx="2176946" cy="13061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40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4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38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1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2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5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3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9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40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97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AI‑Driven Predictive 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AI/ML Governance Notebook Project</a:t>
            </a:r>
            <a:endParaRPr dirty="0"/>
          </a:p>
          <a:p>
            <a:r>
              <a:rPr dirty="0"/>
              <a:t>Neliswa Mbeje</a:t>
            </a:r>
          </a:p>
          <a:p>
            <a:r>
              <a:rPr dirty="0"/>
              <a:t>IT Governance • Data Analytics • AI‑Driven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This project demonstrates how predictive analytics enhances IT governance.</a:t>
            </a:r>
          </a:p>
          <a:p>
            <a:pPr>
              <a:buFont typeface="Courier New" panose="02070309020205020404" pitchFamily="49" charset="0"/>
              <a:buChar char="o"/>
            </a:pPr>
            <a:endParaRPr dirty="0"/>
          </a:p>
          <a:p>
            <a:pPr marL="0" indent="0">
              <a:buNone/>
            </a:pPr>
            <a:r>
              <a:rPr dirty="0"/>
              <a:t>Objectives: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Anticipate operational risks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Detect anomalies proactively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Improve service reliability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Enable data‑driven executive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Large distributed IT environments struggle with: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Reactive incident management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Hidden performance degradation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Fragmented governance visibility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Rising operational costs</a:t>
            </a:r>
          </a:p>
          <a:p>
            <a:endParaRPr dirty="0"/>
          </a:p>
          <a:p>
            <a:r>
              <a:rPr dirty="0"/>
              <a:t>A predictive governance framework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AI‑Driven Governance Framework: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898863A-CAA0-750F-4957-A6C7898C14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3570497"/>
              </p:ext>
            </p:extLst>
          </p:nvPr>
        </p:nvGraphicFramePr>
        <p:xfrm>
          <a:off x="924559" y="2143760"/>
          <a:ext cx="7543801" cy="3444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dirty="0"/>
              <a:t>Synthetic 24‑month dataset simulating enterprise IT operations.</a:t>
            </a:r>
          </a:p>
          <a:p>
            <a:endParaRPr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dirty="0"/>
              <a:t>Key Fields: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Date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Region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Site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Incident Volume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SLA Breach Rate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System Downtime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User Satisfaction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Risk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Initial analysis performed to identify trends and distributions.</a:t>
            </a:r>
          </a:p>
          <a:p>
            <a:endParaRPr dirty="0"/>
          </a:p>
          <a:p>
            <a:r>
              <a:rPr dirty="0"/>
              <a:t>Insights: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Incident peaks follow seasonal load patterns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SLA breaches correlate with downtime spikes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dirty="0"/>
              <a:t> User satisfaction declines during prolonged outages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66AB-0A73-EAEC-ECF7-1D529DBF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GRAPHS</a:t>
            </a:r>
            <a:endParaRPr lang="en-GB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820F340-2D42-5C27-4FDD-2057FBBF0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743" r="41675" b="29088"/>
          <a:stretch>
            <a:fillRect/>
          </a:stretch>
        </p:blipFill>
        <p:spPr>
          <a:xfrm>
            <a:off x="822961" y="1890892"/>
            <a:ext cx="3606800" cy="35040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4CFD67-7B9C-2B5D-EC6D-C253EBC07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9" t="15009" r="41556" b="13763"/>
          <a:stretch>
            <a:fillRect/>
          </a:stretch>
        </p:blipFill>
        <p:spPr>
          <a:xfrm>
            <a:off x="4429761" y="1890892"/>
            <a:ext cx="3936999" cy="344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8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Engineered predictive indicators:</a:t>
            </a:r>
          </a:p>
          <a:p>
            <a:endParaRPr dirty="0"/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Rolling Incident Average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Downtime Trend Index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SLA Volatility Measure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Regional Risk Weighting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Purpose: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Forecast incident escalation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Predict SLA breach probability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Quantify operational risk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130BF-86B2-7373-109A-A1CD973AB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12" t="7458" r="41111" b="20419"/>
          <a:stretch>
            <a:fillRect/>
          </a:stretch>
        </p:blipFill>
        <p:spPr>
          <a:xfrm>
            <a:off x="965200" y="3515360"/>
            <a:ext cx="4734560" cy="2804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Evaluation Metrics: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R² Score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Mean Absolute Error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Prediction Confidence</a:t>
            </a:r>
          </a:p>
          <a:p>
            <a:endParaRPr dirty="0"/>
          </a:p>
          <a:p>
            <a:r>
              <a:rPr dirty="0"/>
              <a:t>Model demonstrates strong </a:t>
            </a:r>
            <a:endParaRPr lang="en-GB" dirty="0"/>
          </a:p>
          <a:p>
            <a:r>
              <a:rPr dirty="0"/>
              <a:t>predictive reliability.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AC0EB90-D40C-7ADF-B809-ACA144E98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6" t="8677" r="41541" b="19831"/>
          <a:stretch>
            <a:fillRect/>
          </a:stretch>
        </p:blipFill>
        <p:spPr>
          <a:xfrm>
            <a:off x="3931920" y="1845734"/>
            <a:ext cx="4389121" cy="39050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Predictive insights presented through governance dashboards.</a:t>
            </a:r>
          </a:p>
          <a:p>
            <a:endParaRPr dirty="0"/>
          </a:p>
          <a:p>
            <a:r>
              <a:rPr dirty="0"/>
              <a:t>Key Views: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Incident Forecast Trends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SLA Breach Probability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Regional Risk Heatmaps</a:t>
            </a:r>
          </a:p>
          <a:p>
            <a:endParaRPr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75E2493-3AAA-2791-172D-BA935B798C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12" t="28966" r="42084"/>
          <a:stretch>
            <a:fillRect/>
          </a:stretch>
        </p:blipFill>
        <p:spPr>
          <a:xfrm>
            <a:off x="3667760" y="2275840"/>
            <a:ext cx="4699000" cy="3887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Operational Improvements:</a:t>
            </a:r>
          </a:p>
          <a:p>
            <a:endParaRPr dirty="0"/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Proactive incident prevention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Reduced downtime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Improved SLA compliance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Enhanced executive visibility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Stronger governance maturity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E59E5-1E18-A045-C266-0BDB15764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69" t="1207" r="41554" b="12302"/>
          <a:stretch>
            <a:fillRect/>
          </a:stretch>
        </p:blipFill>
        <p:spPr>
          <a:xfrm>
            <a:off x="4175761" y="2001521"/>
            <a:ext cx="4191000" cy="348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Next Evolution:</a:t>
            </a:r>
          </a:p>
          <a:p>
            <a:endParaRPr dirty="0"/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Anomaly detection (Isolation Forest)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Deep learning time‑series forecasting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Real‑time monitoring pipelines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 Automated executive alerts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AI transforms governance from reactive control to predictive intelligence.</a:t>
            </a:r>
          </a:p>
          <a:p>
            <a:endParaRPr/>
          </a:p>
          <a:p>
            <a:r>
              <a:t>Outcome:</a:t>
            </a:r>
          </a:p>
          <a:p>
            <a:r>
              <a:t>A scalable, data‑driven governance model suitable for global luxury enterprises.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Notebook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Include screenshots from the notebook:</a:t>
            </a:r>
          </a:p>
          <a:p>
            <a:endParaRPr dirty="0"/>
          </a:p>
          <a:p>
            <a:r>
              <a:rPr dirty="0"/>
              <a:t>1. Dataset preview</a:t>
            </a:r>
          </a:p>
          <a:p>
            <a:r>
              <a:rPr dirty="0"/>
              <a:t>2. Data cleaning steps</a:t>
            </a:r>
          </a:p>
          <a:p>
            <a:r>
              <a:rPr dirty="0"/>
              <a:t>3. Feature engineering code</a:t>
            </a:r>
          </a:p>
          <a:p>
            <a:r>
              <a:rPr dirty="0"/>
              <a:t>4. Model training process</a:t>
            </a:r>
          </a:p>
          <a:p>
            <a:r>
              <a:rPr dirty="0"/>
              <a:t>5. Forecast outputs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7AF1-64E7-0BB4-93FC-782EE45B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7920C-A396-5E96-CDE5-7AA3EA433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938942"/>
            <a:ext cx="7543800" cy="383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19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1DEA-E25B-8545-57E6-D120D5F8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0F81F-D4C7-EB3B-35D2-B5C8B2AE6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1511"/>
            <a:ext cx="7543800" cy="40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00B6-85FA-CB14-E56F-39218B9F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D8936C-61F1-D6F0-FE57-DAFB3E66A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5384"/>
            <a:ext cx="7543800" cy="400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868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20FB-891E-DFD4-1AF7-B846ECB9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7522A9-B8A3-450A-2AD7-99C12797B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8064"/>
            <a:ext cx="7543800" cy="399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49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89A47-6D12-81CB-B11C-2625320C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0E836-2313-EAA3-E138-CD20B1852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63259"/>
            <a:ext cx="7543800" cy="398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4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69D2-9513-7AA5-4CE6-7E7C4A125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DA83D-BDE5-00BC-4598-8AFA9B00C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60589"/>
            <a:ext cx="7543800" cy="399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20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FADD-61E6-035B-FD72-16715E11F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96764"/>
            <a:ext cx="7543800" cy="1450757"/>
          </a:xfrm>
        </p:spPr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F593FA-F679-3FE8-998B-EEDF69D91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4355"/>
            <a:ext cx="7543800" cy="400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038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637AB-C260-9F40-1984-73DE9B0F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7F7643-0AFC-E475-E676-25D105AB2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2856"/>
            <a:ext cx="7543800" cy="400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85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5BDA4-4F0F-568F-2267-9E2BF113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4F9705-1A6F-1257-E778-7C982C89A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63113"/>
            <a:ext cx="7543800" cy="398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826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64E4-5BD4-F4E6-6C7A-4BAC74C48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59350-47B4-6AB9-5B39-E04B0A1FC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82228"/>
            <a:ext cx="7543800" cy="39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3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3718-6F74-E1F0-DEE9-DF2FA72F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E6C6B-7B9E-F0E0-268E-7FB47F77B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55227"/>
            <a:ext cx="7543800" cy="40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6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E399-1375-F0DC-BD3C-46C9C314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377A5E-C417-8ED1-77B9-52FD1AF6C9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2732" y="1846263"/>
            <a:ext cx="654298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02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728FD-6129-8625-B7F2-3E75A6D6C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515B77-D63F-2424-7E79-1BECAE71C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64160"/>
            <a:ext cx="7543800" cy="398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95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5F47-D802-04FE-3651-A86952C6B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NOTEBOOK SCREENSHOTS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CD8B9-6130-F8D2-AB92-DA1AD27342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185401"/>
            <a:ext cx="7543800" cy="33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144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</TotalTime>
  <Words>420</Words>
  <Application>Microsoft Office PowerPoint</Application>
  <PresentationFormat>On-screen Show (4:3)</PresentationFormat>
  <Paragraphs>117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Calibri Light</vt:lpstr>
      <vt:lpstr>Courier New</vt:lpstr>
      <vt:lpstr>Retrospect</vt:lpstr>
      <vt:lpstr>AI‑Driven Predictive Governance Model</vt:lpstr>
      <vt:lpstr>Executive Overview</vt:lpstr>
      <vt:lpstr>Business Problem</vt:lpstr>
      <vt:lpstr>Solution Architecture</vt:lpstr>
      <vt:lpstr>Dataset Overview</vt:lpstr>
      <vt:lpstr>Exploratory Data Analysis</vt:lpstr>
      <vt:lpstr>DATA DISTRIBUTION GRAPHS</vt:lpstr>
      <vt:lpstr>Feature Engineering</vt:lpstr>
      <vt:lpstr>Predictive Modeling Approach</vt:lpstr>
      <vt:lpstr>Model Performance</vt:lpstr>
      <vt:lpstr>Visualization &amp; Insights</vt:lpstr>
      <vt:lpstr>Business Impact</vt:lpstr>
      <vt:lpstr>Scalability &amp; Future Enhancements</vt:lpstr>
      <vt:lpstr>Conclusion</vt:lpstr>
      <vt:lpstr>Appendix — Notebook Evidence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  <vt:lpstr>NOTEBOOK SCREENSHOTS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6</cp:revision>
  <dcterms:created xsi:type="dcterms:W3CDTF">2013-01-27T09:14:16Z</dcterms:created>
  <dcterms:modified xsi:type="dcterms:W3CDTF">2026-03-07T22:03:08Z</dcterms:modified>
  <cp:category/>
</cp:coreProperties>
</file>