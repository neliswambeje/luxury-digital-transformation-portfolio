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A93DC7-54B6-474D-821A-260E5623788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B34FFAF-D0F6-4580-B896-42A1D9B4FF16}">
      <dgm:prSet phldrT="[Text]"/>
      <dgm:spPr/>
      <dgm:t>
        <a:bodyPr/>
        <a:lstStyle/>
        <a:p>
          <a:r>
            <a:rPr lang="en-US" dirty="0"/>
            <a:t>Month 1-3 Standardize ownership</a:t>
          </a:r>
          <a:endParaRPr lang="en-GB" dirty="0"/>
        </a:p>
      </dgm:t>
    </dgm:pt>
    <dgm:pt modelId="{3FB79019-6FB4-43FE-AAF7-8003DC625560}" type="parTrans" cxnId="{AAD4718A-E7AE-4511-ACF9-BC0EC84CA3E6}">
      <dgm:prSet/>
      <dgm:spPr/>
      <dgm:t>
        <a:bodyPr/>
        <a:lstStyle/>
        <a:p>
          <a:endParaRPr lang="en-GB"/>
        </a:p>
      </dgm:t>
    </dgm:pt>
    <dgm:pt modelId="{52ABC29B-5D31-41BE-9C13-ADDCDC926FC1}" type="sibTrans" cxnId="{AAD4718A-E7AE-4511-ACF9-BC0EC84CA3E6}">
      <dgm:prSet/>
      <dgm:spPr/>
      <dgm:t>
        <a:bodyPr/>
        <a:lstStyle/>
        <a:p>
          <a:endParaRPr lang="en-GB"/>
        </a:p>
      </dgm:t>
    </dgm:pt>
    <dgm:pt modelId="{2D6D72B1-74FD-4445-871D-E37B6C7762ED}">
      <dgm:prSet phldrT="[Text]"/>
      <dgm:spPr/>
      <dgm:t>
        <a:bodyPr/>
        <a:lstStyle/>
        <a:p>
          <a:r>
            <a:rPr lang="en-US" dirty="0"/>
            <a:t>Month 4 – 8 MDM rollout</a:t>
          </a:r>
          <a:endParaRPr lang="en-GB" dirty="0"/>
        </a:p>
      </dgm:t>
    </dgm:pt>
    <dgm:pt modelId="{B92631BD-2748-4B88-9957-B46D5F08F7EB}" type="parTrans" cxnId="{E1E6FA56-B890-45D6-8B79-97FFC542BE75}">
      <dgm:prSet/>
      <dgm:spPr/>
      <dgm:t>
        <a:bodyPr/>
        <a:lstStyle/>
        <a:p>
          <a:endParaRPr lang="en-GB"/>
        </a:p>
      </dgm:t>
    </dgm:pt>
    <dgm:pt modelId="{2F30B313-4392-45FC-93AA-DFCEB4438DF1}" type="sibTrans" cxnId="{E1E6FA56-B890-45D6-8B79-97FFC542BE75}">
      <dgm:prSet/>
      <dgm:spPr/>
      <dgm:t>
        <a:bodyPr/>
        <a:lstStyle/>
        <a:p>
          <a:endParaRPr lang="en-GB"/>
        </a:p>
      </dgm:t>
    </dgm:pt>
    <dgm:pt modelId="{26721D99-1BFA-4363-855E-051480CACA33}">
      <dgm:prSet phldrT="[Text]"/>
      <dgm:spPr/>
      <dgm:t>
        <a:bodyPr/>
        <a:lstStyle/>
        <a:p>
          <a:r>
            <a:rPr lang="en-US" dirty="0"/>
            <a:t>Month 8 – 13 Automation implementation</a:t>
          </a:r>
          <a:endParaRPr lang="en-GB" dirty="0"/>
        </a:p>
      </dgm:t>
    </dgm:pt>
    <dgm:pt modelId="{F3E56199-EE25-4E6C-AC23-C86D11B10BBD}" type="parTrans" cxnId="{78FB166C-0E22-48F7-B974-930490E35C2D}">
      <dgm:prSet/>
      <dgm:spPr/>
      <dgm:t>
        <a:bodyPr/>
        <a:lstStyle/>
        <a:p>
          <a:endParaRPr lang="en-GB"/>
        </a:p>
      </dgm:t>
    </dgm:pt>
    <dgm:pt modelId="{20F0C54E-43B2-421D-919A-08FE65FF3B95}" type="sibTrans" cxnId="{78FB166C-0E22-48F7-B974-930490E35C2D}">
      <dgm:prSet/>
      <dgm:spPr/>
      <dgm:t>
        <a:bodyPr/>
        <a:lstStyle/>
        <a:p>
          <a:endParaRPr lang="en-GB"/>
        </a:p>
      </dgm:t>
    </dgm:pt>
    <dgm:pt modelId="{1AC54F86-128B-4D02-8AC1-90400B56AADF}">
      <dgm:prSet phldrT="[Text]"/>
      <dgm:spPr/>
      <dgm:t>
        <a:bodyPr/>
        <a:lstStyle/>
        <a:p>
          <a:r>
            <a:rPr lang="en-US" dirty="0"/>
            <a:t>Month 14 – 18 Optimization &amp; continuous monitoring</a:t>
          </a:r>
          <a:endParaRPr lang="en-GB" dirty="0"/>
        </a:p>
      </dgm:t>
    </dgm:pt>
    <dgm:pt modelId="{B116F4AD-40AC-4540-A8D8-9CBB47AB61A1}" type="parTrans" cxnId="{BCC22A5B-BE58-4C89-9191-0EA5C20B39DD}">
      <dgm:prSet/>
      <dgm:spPr/>
      <dgm:t>
        <a:bodyPr/>
        <a:lstStyle/>
        <a:p>
          <a:endParaRPr lang="en-GB"/>
        </a:p>
      </dgm:t>
    </dgm:pt>
    <dgm:pt modelId="{451B5B2C-68EC-4932-AC5C-B35FDAEF3331}" type="sibTrans" cxnId="{BCC22A5B-BE58-4C89-9191-0EA5C20B39DD}">
      <dgm:prSet/>
      <dgm:spPr/>
      <dgm:t>
        <a:bodyPr/>
        <a:lstStyle/>
        <a:p>
          <a:endParaRPr lang="en-GB"/>
        </a:p>
      </dgm:t>
    </dgm:pt>
    <dgm:pt modelId="{84747928-56F0-4146-8493-883B200CB849}" type="pres">
      <dgm:prSet presAssocID="{D6A93DC7-54B6-474D-821A-260E56237881}" presName="Name0" presStyleCnt="0">
        <dgm:presLayoutVars>
          <dgm:dir/>
          <dgm:animLvl val="lvl"/>
          <dgm:resizeHandles val="exact"/>
        </dgm:presLayoutVars>
      </dgm:prSet>
      <dgm:spPr/>
    </dgm:pt>
    <dgm:pt modelId="{EA12A9D5-B30A-48C6-BACE-9B30219A3918}" type="pres">
      <dgm:prSet presAssocID="{7B34FFAF-D0F6-4580-B896-42A1D9B4FF16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6B87DCB-86F9-4F82-8EBF-877804749BB1}" type="pres">
      <dgm:prSet presAssocID="{52ABC29B-5D31-41BE-9C13-ADDCDC926FC1}" presName="parTxOnlySpace" presStyleCnt="0"/>
      <dgm:spPr/>
    </dgm:pt>
    <dgm:pt modelId="{589DB7C4-7709-4230-9D3F-AD5E69B35269}" type="pres">
      <dgm:prSet presAssocID="{2D6D72B1-74FD-4445-871D-E37B6C7762E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BFCC968-6690-4BFA-9931-E067070F7065}" type="pres">
      <dgm:prSet presAssocID="{2F30B313-4392-45FC-93AA-DFCEB4438DF1}" presName="parTxOnlySpace" presStyleCnt="0"/>
      <dgm:spPr/>
    </dgm:pt>
    <dgm:pt modelId="{4D3805AF-A572-4A94-850A-B779DCF7184C}" type="pres">
      <dgm:prSet presAssocID="{26721D99-1BFA-4363-855E-051480CACA33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C12A93F-8A5B-4022-82D3-B8DA000B9E3F}" type="pres">
      <dgm:prSet presAssocID="{20F0C54E-43B2-421D-919A-08FE65FF3B95}" presName="parTxOnlySpace" presStyleCnt="0"/>
      <dgm:spPr/>
    </dgm:pt>
    <dgm:pt modelId="{59D449D4-4F04-49A6-AAD7-CA93A3C1F41D}" type="pres">
      <dgm:prSet presAssocID="{1AC54F86-128B-4D02-8AC1-90400B56AADF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D226A3D-9E69-48F8-9CB0-F73058D903AF}" type="presOf" srcId="{1AC54F86-128B-4D02-8AC1-90400B56AADF}" destId="{59D449D4-4F04-49A6-AAD7-CA93A3C1F41D}" srcOrd="0" destOrd="0" presId="urn:microsoft.com/office/officeart/2005/8/layout/chevron1"/>
    <dgm:cxn modelId="{BCC22A5B-BE58-4C89-9191-0EA5C20B39DD}" srcId="{D6A93DC7-54B6-474D-821A-260E56237881}" destId="{1AC54F86-128B-4D02-8AC1-90400B56AADF}" srcOrd="3" destOrd="0" parTransId="{B116F4AD-40AC-4540-A8D8-9CBB47AB61A1}" sibTransId="{451B5B2C-68EC-4932-AC5C-B35FDAEF3331}"/>
    <dgm:cxn modelId="{78FB166C-0E22-48F7-B974-930490E35C2D}" srcId="{D6A93DC7-54B6-474D-821A-260E56237881}" destId="{26721D99-1BFA-4363-855E-051480CACA33}" srcOrd="2" destOrd="0" parTransId="{F3E56199-EE25-4E6C-AC23-C86D11B10BBD}" sibTransId="{20F0C54E-43B2-421D-919A-08FE65FF3B95}"/>
    <dgm:cxn modelId="{E1E6FA56-B890-45D6-8B79-97FFC542BE75}" srcId="{D6A93DC7-54B6-474D-821A-260E56237881}" destId="{2D6D72B1-74FD-4445-871D-E37B6C7762ED}" srcOrd="1" destOrd="0" parTransId="{B92631BD-2748-4B88-9957-B46D5F08F7EB}" sibTransId="{2F30B313-4392-45FC-93AA-DFCEB4438DF1}"/>
    <dgm:cxn modelId="{AAD4718A-E7AE-4511-ACF9-BC0EC84CA3E6}" srcId="{D6A93DC7-54B6-474D-821A-260E56237881}" destId="{7B34FFAF-D0F6-4580-B896-42A1D9B4FF16}" srcOrd="0" destOrd="0" parTransId="{3FB79019-6FB4-43FE-AAF7-8003DC625560}" sibTransId="{52ABC29B-5D31-41BE-9C13-ADDCDC926FC1}"/>
    <dgm:cxn modelId="{E5663E9B-00C5-452F-A843-3B29B4093635}" type="presOf" srcId="{26721D99-1BFA-4363-855E-051480CACA33}" destId="{4D3805AF-A572-4A94-850A-B779DCF7184C}" srcOrd="0" destOrd="0" presId="urn:microsoft.com/office/officeart/2005/8/layout/chevron1"/>
    <dgm:cxn modelId="{283F429D-5B96-492B-B541-5BDD15319F67}" type="presOf" srcId="{D6A93DC7-54B6-474D-821A-260E56237881}" destId="{84747928-56F0-4146-8493-883B200CB849}" srcOrd="0" destOrd="0" presId="urn:microsoft.com/office/officeart/2005/8/layout/chevron1"/>
    <dgm:cxn modelId="{0343F9DB-5A1F-4BAE-A533-F00C25358F14}" type="presOf" srcId="{2D6D72B1-74FD-4445-871D-E37B6C7762ED}" destId="{589DB7C4-7709-4230-9D3F-AD5E69B35269}" srcOrd="0" destOrd="0" presId="urn:microsoft.com/office/officeart/2005/8/layout/chevron1"/>
    <dgm:cxn modelId="{6AB868E9-E30C-4869-84EA-C744A75A58CF}" type="presOf" srcId="{7B34FFAF-D0F6-4580-B896-42A1D9B4FF16}" destId="{EA12A9D5-B30A-48C6-BACE-9B30219A3918}" srcOrd="0" destOrd="0" presId="urn:microsoft.com/office/officeart/2005/8/layout/chevron1"/>
    <dgm:cxn modelId="{96046022-B898-41F8-AA67-21B806A78A4C}" type="presParOf" srcId="{84747928-56F0-4146-8493-883B200CB849}" destId="{EA12A9D5-B30A-48C6-BACE-9B30219A3918}" srcOrd="0" destOrd="0" presId="urn:microsoft.com/office/officeart/2005/8/layout/chevron1"/>
    <dgm:cxn modelId="{8599276C-FB96-480A-BBBE-766AF1A87481}" type="presParOf" srcId="{84747928-56F0-4146-8493-883B200CB849}" destId="{B6B87DCB-86F9-4F82-8EBF-877804749BB1}" srcOrd="1" destOrd="0" presId="urn:microsoft.com/office/officeart/2005/8/layout/chevron1"/>
    <dgm:cxn modelId="{5C52B1AE-BC46-4C75-8D25-247C1B9A87C7}" type="presParOf" srcId="{84747928-56F0-4146-8493-883B200CB849}" destId="{589DB7C4-7709-4230-9D3F-AD5E69B35269}" srcOrd="2" destOrd="0" presId="urn:microsoft.com/office/officeart/2005/8/layout/chevron1"/>
    <dgm:cxn modelId="{46C8329F-C546-4022-9E50-3E04A27E8EE2}" type="presParOf" srcId="{84747928-56F0-4146-8493-883B200CB849}" destId="{ABFCC968-6690-4BFA-9931-E067070F7065}" srcOrd="3" destOrd="0" presId="urn:microsoft.com/office/officeart/2005/8/layout/chevron1"/>
    <dgm:cxn modelId="{AC0C77D5-8002-406B-B141-F8F8A04F3011}" type="presParOf" srcId="{84747928-56F0-4146-8493-883B200CB849}" destId="{4D3805AF-A572-4A94-850A-B779DCF7184C}" srcOrd="4" destOrd="0" presId="urn:microsoft.com/office/officeart/2005/8/layout/chevron1"/>
    <dgm:cxn modelId="{DAACC4AC-0078-4D07-8844-2C0D32454DA4}" type="presParOf" srcId="{84747928-56F0-4146-8493-883B200CB849}" destId="{4C12A93F-8A5B-4022-82D3-B8DA000B9E3F}" srcOrd="5" destOrd="0" presId="urn:microsoft.com/office/officeart/2005/8/layout/chevron1"/>
    <dgm:cxn modelId="{B63C532E-FC8D-4B1D-8D87-D72DEE183F45}" type="presParOf" srcId="{84747928-56F0-4146-8493-883B200CB849}" destId="{59D449D4-4F04-49A6-AAD7-CA93A3C1F41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12A9D5-B30A-48C6-BACE-9B30219A3918}">
      <dsp:nvSpPr>
        <dsp:cNvPr id="0" name=""/>
        <dsp:cNvSpPr/>
      </dsp:nvSpPr>
      <dsp:spPr>
        <a:xfrm>
          <a:off x="3115" y="579662"/>
          <a:ext cx="1813386" cy="7253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Month 1-3 Standardize ownership</a:t>
          </a:r>
          <a:endParaRPr lang="en-GB" sz="1200" kern="1200" dirty="0"/>
        </a:p>
      </dsp:txBody>
      <dsp:txXfrm>
        <a:off x="365792" y="579662"/>
        <a:ext cx="1088032" cy="725354"/>
      </dsp:txXfrm>
    </dsp:sp>
    <dsp:sp modelId="{589DB7C4-7709-4230-9D3F-AD5E69B35269}">
      <dsp:nvSpPr>
        <dsp:cNvPr id="0" name=""/>
        <dsp:cNvSpPr/>
      </dsp:nvSpPr>
      <dsp:spPr>
        <a:xfrm>
          <a:off x="1635162" y="579662"/>
          <a:ext cx="1813386" cy="7253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Month 4 – 8 MDM rollout</a:t>
          </a:r>
          <a:endParaRPr lang="en-GB" sz="1200" kern="1200" dirty="0"/>
        </a:p>
      </dsp:txBody>
      <dsp:txXfrm>
        <a:off x="1997839" y="579662"/>
        <a:ext cx="1088032" cy="725354"/>
      </dsp:txXfrm>
    </dsp:sp>
    <dsp:sp modelId="{4D3805AF-A572-4A94-850A-B779DCF7184C}">
      <dsp:nvSpPr>
        <dsp:cNvPr id="0" name=""/>
        <dsp:cNvSpPr/>
      </dsp:nvSpPr>
      <dsp:spPr>
        <a:xfrm>
          <a:off x="3267210" y="579662"/>
          <a:ext cx="1813386" cy="7253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Month 8 – 13 Automation implementation</a:t>
          </a:r>
          <a:endParaRPr lang="en-GB" sz="1200" kern="1200" dirty="0"/>
        </a:p>
      </dsp:txBody>
      <dsp:txXfrm>
        <a:off x="3629887" y="579662"/>
        <a:ext cx="1088032" cy="725354"/>
      </dsp:txXfrm>
    </dsp:sp>
    <dsp:sp modelId="{59D449D4-4F04-49A6-AAD7-CA93A3C1F41D}">
      <dsp:nvSpPr>
        <dsp:cNvPr id="0" name=""/>
        <dsp:cNvSpPr/>
      </dsp:nvSpPr>
      <dsp:spPr>
        <a:xfrm>
          <a:off x="4899258" y="579662"/>
          <a:ext cx="1813386" cy="7253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Month 14 – 18 Optimization &amp; continuous monitoring</a:t>
          </a:r>
          <a:endParaRPr lang="en-GB" sz="1200" kern="1200" dirty="0"/>
        </a:p>
      </dsp:txBody>
      <dsp:txXfrm>
        <a:off x="5261935" y="579662"/>
        <a:ext cx="1088032" cy="7253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735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774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34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767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232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77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726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867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67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029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263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19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909E3-252E-D7EA-759F-B559438413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3 – Phase II: Governance Roadmap &amp; MDM Integration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80A864-FF14-9592-3571-E573A28E1D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Objective: Transition from monitoring to automated governance</a:t>
            </a:r>
          </a:p>
          <a:p>
            <a:r>
              <a:rPr lang="en-GB" dirty="0"/>
              <a:t>Neliswa Mbeje</a:t>
            </a:r>
          </a:p>
        </p:txBody>
      </p:sp>
    </p:spTree>
    <p:extLst>
      <p:ext uri="{BB962C8B-B14F-4D97-AF65-F5344CB8AC3E}">
        <p14:creationId xmlns:p14="http://schemas.microsoft.com/office/powerpoint/2010/main" val="3253316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Project 3 – Phase II: Governance Roadmap &amp; MDM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Objective: Transition from monitoring to automated governance</a:t>
            </a:r>
          </a:p>
          <a:p>
            <a:r>
              <a:rPr dirty="0"/>
              <a:t>Focus Areas:</a:t>
            </a:r>
          </a:p>
          <a:p>
            <a:r>
              <a:rPr dirty="0"/>
              <a:t>- Master Data Management Integration</a:t>
            </a:r>
          </a:p>
          <a:p>
            <a:r>
              <a:rPr dirty="0"/>
              <a:t>- Automated Anomaly Detection</a:t>
            </a:r>
          </a:p>
          <a:p>
            <a:r>
              <a:rPr dirty="0"/>
              <a:t>- Cross-Market Governance Alignment</a:t>
            </a:r>
          </a:p>
          <a:p>
            <a:r>
              <a:rPr dirty="0"/>
              <a:t>- Governance Maturity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Current vs Target Governance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dirty="0"/>
              <a:t>Current: Reactive data quality dashboards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dirty="0"/>
              <a:t>Target: Automated governance with MDM integration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D53F21-6762-240E-BF8B-FE13B3BCB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880" y="2816978"/>
            <a:ext cx="6654800" cy="31604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Maturity Scorecard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dirty="0"/>
              <a:t>Policy Adoption %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dirty="0"/>
              <a:t>Training Coverage %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dirty="0"/>
              <a:t>Automation Level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dirty="0"/>
              <a:t>MDM Integration Status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917006-3A50-457D-F748-97E0CE0E33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889" b="48594"/>
          <a:stretch>
            <a:fillRect/>
          </a:stretch>
        </p:blipFill>
        <p:spPr>
          <a:xfrm>
            <a:off x="3098800" y="3530600"/>
            <a:ext cx="5151120" cy="27859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Master Data Management Integration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dirty="0"/>
              <a:t>Duplicate Rate %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dirty="0"/>
              <a:t>Golden Record Coverage %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dirty="0"/>
              <a:t>Sync Latency (</a:t>
            </a:r>
            <a:r>
              <a:rPr dirty="0" err="1"/>
              <a:t>hrs</a:t>
            </a:r>
            <a:r>
              <a:rPr dirty="0"/>
              <a:t>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dirty="0"/>
              <a:t>Source Systems Count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A0E5E5-4D00-AD7F-414C-E46910FCA6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687"/>
          <a:stretch>
            <a:fillRect/>
          </a:stretch>
        </p:blipFill>
        <p:spPr>
          <a:xfrm>
            <a:off x="375919" y="3857414"/>
            <a:ext cx="8138161" cy="11094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Anomaly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Monthly Completeness Trend</a:t>
            </a:r>
            <a:endParaRPr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dirty="0"/>
              <a:t>Duplication &amp; Error Rate spikes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</a:t>
            </a:r>
            <a:r>
              <a:rPr dirty="0" err="1"/>
              <a:t>AnomalyFlag</a:t>
            </a:r>
            <a:r>
              <a:rPr dirty="0"/>
              <a:t> logic triggered by thresholds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20E4F3-1D79-1327-9E8B-8BAAAD79DE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7" t="32321" r="37376" b="34889"/>
          <a:stretch>
            <a:fillRect/>
          </a:stretch>
        </p:blipFill>
        <p:spPr>
          <a:xfrm>
            <a:off x="894079" y="3241040"/>
            <a:ext cx="7629793" cy="2336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Cross-Market Governance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Compare governance maturity by market</a:t>
            </a:r>
          </a:p>
          <a:p>
            <a:r>
              <a:rPr dirty="0"/>
              <a:t>Identify lagging domains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56611-E9E0-D8F5-0B97-991E0AB2A6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666" t="54013" r="7446"/>
          <a:stretch>
            <a:fillRect/>
          </a:stretch>
        </p:blipFill>
        <p:spPr>
          <a:xfrm>
            <a:off x="904240" y="2937047"/>
            <a:ext cx="5811520" cy="32344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18-Month Governance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Phase 1: Standardize ownership</a:t>
            </a:r>
          </a:p>
          <a:p>
            <a:r>
              <a:rPr dirty="0"/>
              <a:t>Phase 2: MDM rollout</a:t>
            </a:r>
          </a:p>
          <a:p>
            <a:r>
              <a:rPr dirty="0"/>
              <a:t>Phase 3: Automation implementation</a:t>
            </a:r>
          </a:p>
          <a:p>
            <a:r>
              <a:rPr dirty="0"/>
              <a:t>Phase 4: Optimization &amp; continuous monitoring</a:t>
            </a:r>
          </a:p>
          <a:p>
            <a:endParaRPr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C50A8E9-5A02-BBA4-593D-B843294B65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4026575"/>
              </p:ext>
            </p:extLst>
          </p:nvPr>
        </p:nvGraphicFramePr>
        <p:xfrm>
          <a:off x="904240" y="3576320"/>
          <a:ext cx="6715760" cy="1884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Impact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Reduced duplication &amp; latency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Improved cross-market alignment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Automated risk detection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 Path toward Level 5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144</TotalTime>
  <Words>223</Words>
  <Application>Microsoft Office PowerPoint</Application>
  <PresentationFormat>On-screen Show (4:3)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Courier New</vt:lpstr>
      <vt:lpstr>Retrospect</vt:lpstr>
      <vt:lpstr>Project 3 – Phase II: Governance Roadmap &amp; MDM Integration</vt:lpstr>
      <vt:lpstr>Project 3 – Phase II: Governance Roadmap &amp; MDM Integration</vt:lpstr>
      <vt:lpstr>Current vs Target Governance Model</vt:lpstr>
      <vt:lpstr>Governance Maturity Scorecard</vt:lpstr>
      <vt:lpstr>Master Data Management Integration KPIs</vt:lpstr>
      <vt:lpstr>Automated Anomaly Detection</vt:lpstr>
      <vt:lpstr>Cross-Market Governance Alignment</vt:lpstr>
      <vt:lpstr>18-Month Governance Roadmap</vt:lpstr>
      <vt:lpstr>Executive Impact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Neliswa</dc:creator>
  <cp:keywords/>
  <dc:description>generated using python-pptx</dc:description>
  <cp:lastModifiedBy>Neliswa Mbeje</cp:lastModifiedBy>
  <cp:revision>5</cp:revision>
  <dcterms:created xsi:type="dcterms:W3CDTF">2013-01-27T09:14:16Z</dcterms:created>
  <dcterms:modified xsi:type="dcterms:W3CDTF">2026-03-04T18:57:14Z</dcterms:modified>
  <cp:category/>
</cp:coreProperties>
</file>