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80" autoAdjust="0"/>
  </p:normalViewPr>
  <p:slideViewPr>
    <p:cSldViewPr snapToGrid="0" snapToObjects="1">
      <p:cViewPr varScale="1">
        <p:scale>
          <a:sx n="73" d="100"/>
          <a:sy n="73" d="100"/>
        </p:scale>
        <p:origin x="166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C98E7D-F5D7-4502-9F63-FBE264509DD5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33CB32A-40F5-4E63-B306-1EAE45BBE3C8}">
      <dgm:prSet phldrT="[Text]" custT="1"/>
      <dgm:spPr/>
      <dgm:t>
        <a:bodyPr/>
        <a:lstStyle/>
        <a:p>
          <a:pPr>
            <a:buNone/>
          </a:pPr>
          <a:r>
            <a:rPr lang="en-US" sz="1050" b="1" dirty="0"/>
            <a:t>Monthly Quality Review</a:t>
          </a:r>
        </a:p>
        <a:p>
          <a:pPr>
            <a:buNone/>
          </a:pPr>
          <a:r>
            <a:rPr lang="en-US" sz="1050" dirty="0"/>
            <a:t>• Data stewards present KPI dashboard</a:t>
          </a:r>
          <a:br>
            <a:rPr lang="en-US" sz="1050" dirty="0"/>
          </a:br>
          <a:r>
            <a:rPr lang="en-US" sz="1050" dirty="0"/>
            <a:t>• Domain performance reviewed</a:t>
          </a:r>
          <a:endParaRPr lang="en-GB" sz="1050" dirty="0"/>
        </a:p>
      </dgm:t>
    </dgm:pt>
    <dgm:pt modelId="{05897EC3-B839-43EA-946A-0FC65ABF33A7}" type="parTrans" cxnId="{C6AC155A-B260-4285-8012-6720846ED173}">
      <dgm:prSet/>
      <dgm:spPr/>
      <dgm:t>
        <a:bodyPr/>
        <a:lstStyle/>
        <a:p>
          <a:endParaRPr lang="en-GB" sz="4000"/>
        </a:p>
      </dgm:t>
    </dgm:pt>
    <dgm:pt modelId="{DE83B2D7-B65C-46F3-B3D2-983377C2E6BC}" type="sibTrans" cxnId="{C6AC155A-B260-4285-8012-6720846ED173}">
      <dgm:prSet/>
      <dgm:spPr/>
      <dgm:t>
        <a:bodyPr/>
        <a:lstStyle/>
        <a:p>
          <a:endParaRPr lang="en-GB" sz="4000"/>
        </a:p>
      </dgm:t>
    </dgm:pt>
    <dgm:pt modelId="{9637C63C-7298-441C-B3D7-905F89BA6086}">
      <dgm:prSet phldrT="[Text]" custT="1"/>
      <dgm:spPr/>
      <dgm:t>
        <a:bodyPr/>
        <a:lstStyle/>
        <a:p>
          <a:pPr>
            <a:buNone/>
          </a:pPr>
          <a:r>
            <a:rPr lang="en-US" sz="1050" b="1" dirty="0"/>
            <a:t>Threshold Breach Identification</a:t>
          </a:r>
        </a:p>
        <a:p>
          <a:pPr>
            <a:buNone/>
          </a:pPr>
          <a:r>
            <a:rPr lang="en-US" sz="1050" dirty="0"/>
            <a:t>Trigger:</a:t>
          </a:r>
        </a:p>
        <a:p>
          <a:pPr>
            <a:buNone/>
          </a:pPr>
          <a:r>
            <a:rPr lang="en-US" sz="1050" dirty="0"/>
            <a:t>• Completeness &lt; 95%</a:t>
          </a:r>
          <a:br>
            <a:rPr lang="en-US" sz="1050" dirty="0"/>
          </a:br>
          <a:r>
            <a:rPr lang="en-US" sz="1050" dirty="0"/>
            <a:t>Automatically flagged in dashboard</a:t>
          </a:r>
          <a:endParaRPr lang="en-GB" sz="1050" dirty="0"/>
        </a:p>
      </dgm:t>
    </dgm:pt>
    <dgm:pt modelId="{D79D0DA1-E9A5-4746-B602-A23632F817A0}" type="parTrans" cxnId="{1133CF6E-0757-4B81-B94A-2D3035E31F58}">
      <dgm:prSet/>
      <dgm:spPr/>
      <dgm:t>
        <a:bodyPr/>
        <a:lstStyle/>
        <a:p>
          <a:endParaRPr lang="en-GB" sz="4000"/>
        </a:p>
      </dgm:t>
    </dgm:pt>
    <dgm:pt modelId="{A94EA3B2-F507-42CC-BA64-CA23E2A9887F}" type="sibTrans" cxnId="{1133CF6E-0757-4B81-B94A-2D3035E31F58}">
      <dgm:prSet/>
      <dgm:spPr/>
      <dgm:t>
        <a:bodyPr/>
        <a:lstStyle/>
        <a:p>
          <a:endParaRPr lang="en-GB" sz="4000"/>
        </a:p>
      </dgm:t>
    </dgm:pt>
    <dgm:pt modelId="{00DE0DA2-6664-4AF5-87D3-9BC74FBF8B35}">
      <dgm:prSet phldrT="[Text]" custT="1"/>
      <dgm:spPr/>
      <dgm:t>
        <a:bodyPr/>
        <a:lstStyle/>
        <a:p>
          <a:pPr>
            <a:buNone/>
          </a:pPr>
          <a:r>
            <a:rPr lang="en-US" sz="1050" b="1" dirty="0"/>
            <a:t>Root Cause Analysis</a:t>
          </a:r>
        </a:p>
        <a:p>
          <a:pPr>
            <a:buNone/>
          </a:pPr>
          <a:r>
            <a:rPr lang="en-US" sz="1050" dirty="0"/>
            <a:t>• System mapping review</a:t>
          </a:r>
          <a:br>
            <a:rPr lang="en-US" sz="1050" dirty="0"/>
          </a:br>
          <a:r>
            <a:rPr lang="en-US" sz="1050" dirty="0"/>
            <a:t>• Data entry process analysis</a:t>
          </a:r>
          <a:br>
            <a:rPr lang="en-US" sz="1050" dirty="0"/>
          </a:br>
          <a:r>
            <a:rPr lang="en-US" sz="1050" dirty="0"/>
            <a:t>• Upstream dependency check</a:t>
          </a:r>
          <a:endParaRPr lang="en-GB" sz="1050" dirty="0"/>
        </a:p>
      </dgm:t>
    </dgm:pt>
    <dgm:pt modelId="{2EF638FC-27C8-42CD-A26A-BF37C5A2FBF3}" type="parTrans" cxnId="{B1FC6BDF-4443-4D41-99AB-39D96E28E6B0}">
      <dgm:prSet/>
      <dgm:spPr/>
      <dgm:t>
        <a:bodyPr/>
        <a:lstStyle/>
        <a:p>
          <a:endParaRPr lang="en-GB" sz="4000"/>
        </a:p>
      </dgm:t>
    </dgm:pt>
    <dgm:pt modelId="{085F0E96-EF85-4968-91FA-9018758BE76C}" type="sibTrans" cxnId="{B1FC6BDF-4443-4D41-99AB-39D96E28E6B0}">
      <dgm:prSet/>
      <dgm:spPr/>
      <dgm:t>
        <a:bodyPr/>
        <a:lstStyle/>
        <a:p>
          <a:endParaRPr lang="en-GB" sz="4000"/>
        </a:p>
      </dgm:t>
    </dgm:pt>
    <dgm:pt modelId="{923B6332-4B9F-406F-A7C6-9DBB4E250BA5}">
      <dgm:prSet custT="1"/>
      <dgm:spPr/>
      <dgm:t>
        <a:bodyPr/>
        <a:lstStyle/>
        <a:p>
          <a:pPr>
            <a:buNone/>
          </a:pPr>
          <a:r>
            <a:rPr lang="en-US" sz="1200" b="1" dirty="0"/>
            <a:t>Remediation Plan                                 </a:t>
          </a:r>
          <a:r>
            <a:rPr lang="en-US" sz="1200" dirty="0"/>
            <a:t>• Data cleansing campaign</a:t>
          </a:r>
          <a:br>
            <a:rPr lang="en-US" sz="1200" dirty="0"/>
          </a:br>
          <a:r>
            <a:rPr lang="en-US" sz="1200" dirty="0"/>
            <a:t>• Validation rule enhancement</a:t>
          </a:r>
        </a:p>
      </dgm:t>
    </dgm:pt>
    <dgm:pt modelId="{C355D818-8802-49EF-A1F7-7F9498CBB4E4}" type="parTrans" cxnId="{AE4D84E9-73F8-4B64-9A6E-6B391AD04C8B}">
      <dgm:prSet/>
      <dgm:spPr/>
      <dgm:t>
        <a:bodyPr/>
        <a:lstStyle/>
        <a:p>
          <a:endParaRPr lang="en-GB" sz="4000"/>
        </a:p>
      </dgm:t>
    </dgm:pt>
    <dgm:pt modelId="{71DFC930-C66D-4956-ACD3-BE06A47B47E6}" type="sibTrans" cxnId="{AE4D84E9-73F8-4B64-9A6E-6B391AD04C8B}">
      <dgm:prSet/>
      <dgm:spPr/>
      <dgm:t>
        <a:bodyPr/>
        <a:lstStyle/>
        <a:p>
          <a:endParaRPr lang="en-GB" sz="4000"/>
        </a:p>
      </dgm:t>
    </dgm:pt>
    <dgm:pt modelId="{D14D52CD-2BA1-4887-8BB1-9AFE86654C0F}">
      <dgm:prSet custT="1"/>
      <dgm:spPr/>
      <dgm:t>
        <a:bodyPr/>
        <a:lstStyle/>
        <a:p>
          <a:pPr>
            <a:buNone/>
          </a:pPr>
          <a:r>
            <a:rPr lang="en-US" sz="1050" b="1" dirty="0"/>
            <a:t>Executive Escalation (If Critical)</a:t>
          </a:r>
        </a:p>
        <a:p>
          <a:pPr>
            <a:buNone/>
          </a:pPr>
          <a:r>
            <a:rPr lang="en-US" sz="1050" dirty="0"/>
            <a:t>  Escalate when:                           • Financial reporting risk           Escalation to:                                                          • Governance Committee</a:t>
          </a:r>
          <a:endParaRPr lang="en-GB" sz="1050" dirty="0"/>
        </a:p>
      </dgm:t>
    </dgm:pt>
    <dgm:pt modelId="{6A5208C6-0418-4E2E-91C1-374090CB8D6A}" type="parTrans" cxnId="{79EAF3CB-8DA4-4CF4-BF84-A93E4450C499}">
      <dgm:prSet/>
      <dgm:spPr/>
      <dgm:t>
        <a:bodyPr/>
        <a:lstStyle/>
        <a:p>
          <a:endParaRPr lang="en-GB" sz="4000"/>
        </a:p>
      </dgm:t>
    </dgm:pt>
    <dgm:pt modelId="{81303E11-CB0C-4629-975C-49BDCF6B40D3}" type="sibTrans" cxnId="{79EAF3CB-8DA4-4CF4-BF84-A93E4450C499}">
      <dgm:prSet/>
      <dgm:spPr/>
      <dgm:t>
        <a:bodyPr/>
        <a:lstStyle/>
        <a:p>
          <a:endParaRPr lang="en-GB" sz="4000"/>
        </a:p>
      </dgm:t>
    </dgm:pt>
    <dgm:pt modelId="{7887CB27-7C1F-4AAB-9C54-5ABC528625DC}" type="pres">
      <dgm:prSet presAssocID="{97C98E7D-F5D7-4502-9F63-FBE264509DD5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75C8CD02-E9C6-49F4-8681-1F4C6F2689BF}" type="pres">
      <dgm:prSet presAssocID="{D14D52CD-2BA1-4887-8BB1-9AFE86654C0F}" presName="Accent5" presStyleCnt="0"/>
      <dgm:spPr/>
    </dgm:pt>
    <dgm:pt modelId="{C852D046-2036-425B-BD19-6210ECB3149F}" type="pres">
      <dgm:prSet presAssocID="{D14D52CD-2BA1-4887-8BB1-9AFE86654C0F}" presName="Accent" presStyleLbl="node1" presStyleIdx="0" presStyleCnt="5"/>
      <dgm:spPr/>
    </dgm:pt>
    <dgm:pt modelId="{17279AE2-63E1-46BD-BFDA-A8B9A5E00F87}" type="pres">
      <dgm:prSet presAssocID="{D14D52CD-2BA1-4887-8BB1-9AFE86654C0F}" presName="ParentBackground5" presStyleCnt="0"/>
      <dgm:spPr/>
    </dgm:pt>
    <dgm:pt modelId="{4472B36D-D727-4732-A5D9-1820A484A51F}" type="pres">
      <dgm:prSet presAssocID="{D14D52CD-2BA1-4887-8BB1-9AFE86654C0F}" presName="ParentBackground" presStyleLbl="fgAcc1" presStyleIdx="0" presStyleCnt="5"/>
      <dgm:spPr/>
    </dgm:pt>
    <dgm:pt modelId="{CFF16B15-7682-4655-AC8C-7EF22BC1D059}" type="pres">
      <dgm:prSet presAssocID="{D14D52CD-2BA1-4887-8BB1-9AFE86654C0F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A486895-5F59-49E2-8082-078FF59606B7}" type="pres">
      <dgm:prSet presAssocID="{923B6332-4B9F-406F-A7C6-9DBB4E250BA5}" presName="Accent4" presStyleCnt="0"/>
      <dgm:spPr/>
    </dgm:pt>
    <dgm:pt modelId="{083E8DB2-88FD-4234-B50B-5CB04485FAB9}" type="pres">
      <dgm:prSet presAssocID="{923B6332-4B9F-406F-A7C6-9DBB4E250BA5}" presName="Accent" presStyleLbl="node1" presStyleIdx="1" presStyleCnt="5"/>
      <dgm:spPr/>
    </dgm:pt>
    <dgm:pt modelId="{2BE56991-4E11-4E8B-ADFA-F6DF13C62A07}" type="pres">
      <dgm:prSet presAssocID="{923B6332-4B9F-406F-A7C6-9DBB4E250BA5}" presName="ParentBackground4" presStyleCnt="0"/>
      <dgm:spPr/>
    </dgm:pt>
    <dgm:pt modelId="{2257BE16-8D36-4BA5-8B51-31859AD21C19}" type="pres">
      <dgm:prSet presAssocID="{923B6332-4B9F-406F-A7C6-9DBB4E250BA5}" presName="ParentBackground" presStyleLbl="fgAcc1" presStyleIdx="1" presStyleCnt="5"/>
      <dgm:spPr/>
    </dgm:pt>
    <dgm:pt modelId="{0A82FA6F-72FD-4EFA-BA42-1E4C413D8827}" type="pres">
      <dgm:prSet presAssocID="{923B6332-4B9F-406F-A7C6-9DBB4E250BA5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FE4B277-0CA2-40DE-B929-9C0516C3C009}" type="pres">
      <dgm:prSet presAssocID="{00DE0DA2-6664-4AF5-87D3-9BC74FBF8B35}" presName="Accent3" presStyleCnt="0"/>
      <dgm:spPr/>
    </dgm:pt>
    <dgm:pt modelId="{12367AD2-52B0-4AE4-AE54-768181765A96}" type="pres">
      <dgm:prSet presAssocID="{00DE0DA2-6664-4AF5-87D3-9BC74FBF8B35}" presName="Accent" presStyleLbl="node1" presStyleIdx="2" presStyleCnt="5"/>
      <dgm:spPr/>
    </dgm:pt>
    <dgm:pt modelId="{DCDF2E9B-384A-4A05-B1A1-C16DC819662F}" type="pres">
      <dgm:prSet presAssocID="{00DE0DA2-6664-4AF5-87D3-9BC74FBF8B35}" presName="ParentBackground3" presStyleCnt="0"/>
      <dgm:spPr/>
    </dgm:pt>
    <dgm:pt modelId="{1FF1F3F0-A2A8-4BA8-A9A9-D16E9BAF8BBC}" type="pres">
      <dgm:prSet presAssocID="{00DE0DA2-6664-4AF5-87D3-9BC74FBF8B35}" presName="ParentBackground" presStyleLbl="fgAcc1" presStyleIdx="2" presStyleCnt="5"/>
      <dgm:spPr/>
    </dgm:pt>
    <dgm:pt modelId="{97FD066E-49E7-40B4-A5B8-488575FDD613}" type="pres">
      <dgm:prSet presAssocID="{00DE0DA2-6664-4AF5-87D3-9BC74FBF8B35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870824AA-80A4-4C89-B0E7-AF3E6EEBA829}" type="pres">
      <dgm:prSet presAssocID="{9637C63C-7298-441C-B3D7-905F89BA6086}" presName="Accent2" presStyleCnt="0"/>
      <dgm:spPr/>
    </dgm:pt>
    <dgm:pt modelId="{DD8CD7EC-8079-44AA-9159-90BDA77D88B6}" type="pres">
      <dgm:prSet presAssocID="{9637C63C-7298-441C-B3D7-905F89BA6086}" presName="Accent" presStyleLbl="node1" presStyleIdx="3" presStyleCnt="5"/>
      <dgm:spPr/>
    </dgm:pt>
    <dgm:pt modelId="{7DE2C041-3EAA-4BA8-A0EB-8E8877121DA3}" type="pres">
      <dgm:prSet presAssocID="{9637C63C-7298-441C-B3D7-905F89BA6086}" presName="ParentBackground2" presStyleCnt="0"/>
      <dgm:spPr/>
    </dgm:pt>
    <dgm:pt modelId="{7D5095F2-99AE-48E9-8B7B-CF238AB58E7E}" type="pres">
      <dgm:prSet presAssocID="{9637C63C-7298-441C-B3D7-905F89BA6086}" presName="ParentBackground" presStyleLbl="fgAcc1" presStyleIdx="3" presStyleCnt="5" custLinFactNeighborX="732" custLinFactNeighborY="-732"/>
      <dgm:spPr/>
    </dgm:pt>
    <dgm:pt modelId="{C0D6E78B-258C-4090-BA40-33689E863B15}" type="pres">
      <dgm:prSet presAssocID="{9637C63C-7298-441C-B3D7-905F89BA6086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BB14B64B-5771-4837-B30E-9F550ACA9152}" type="pres">
      <dgm:prSet presAssocID="{933CB32A-40F5-4E63-B306-1EAE45BBE3C8}" presName="Accent1" presStyleCnt="0"/>
      <dgm:spPr/>
    </dgm:pt>
    <dgm:pt modelId="{04F00460-688F-4A00-831B-456DCA70157B}" type="pres">
      <dgm:prSet presAssocID="{933CB32A-40F5-4E63-B306-1EAE45BBE3C8}" presName="Accent" presStyleLbl="node1" presStyleIdx="4" presStyleCnt="5"/>
      <dgm:spPr/>
    </dgm:pt>
    <dgm:pt modelId="{1260D5D1-1CC9-46C4-B860-3EA629D3A181}" type="pres">
      <dgm:prSet presAssocID="{933CB32A-40F5-4E63-B306-1EAE45BBE3C8}" presName="ParentBackground1" presStyleCnt="0"/>
      <dgm:spPr/>
    </dgm:pt>
    <dgm:pt modelId="{678F03CA-F847-4602-9E91-96BD99ABC6E2}" type="pres">
      <dgm:prSet presAssocID="{933CB32A-40F5-4E63-B306-1EAE45BBE3C8}" presName="ParentBackground" presStyleLbl="fgAcc1" presStyleIdx="4" presStyleCnt="5" custLinFactNeighborX="809"/>
      <dgm:spPr/>
    </dgm:pt>
    <dgm:pt modelId="{BAD20657-B387-4A3B-B6FF-23C17CD94527}" type="pres">
      <dgm:prSet presAssocID="{933CB32A-40F5-4E63-B306-1EAE45BBE3C8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E1DE4612-03A7-4D65-A4B5-F62D37AB2587}" type="presOf" srcId="{00DE0DA2-6664-4AF5-87D3-9BC74FBF8B35}" destId="{97FD066E-49E7-40B4-A5B8-488575FDD613}" srcOrd="1" destOrd="0" presId="urn:microsoft.com/office/officeart/2011/layout/CircleProcess"/>
    <dgm:cxn modelId="{FF719928-3ADD-4FF5-AD81-75D44D32A7E3}" type="presOf" srcId="{9637C63C-7298-441C-B3D7-905F89BA6086}" destId="{7D5095F2-99AE-48E9-8B7B-CF238AB58E7E}" srcOrd="0" destOrd="0" presId="urn:microsoft.com/office/officeart/2011/layout/CircleProcess"/>
    <dgm:cxn modelId="{1B0A3733-BCB6-43F2-9C00-293CC3053093}" type="presOf" srcId="{D14D52CD-2BA1-4887-8BB1-9AFE86654C0F}" destId="{CFF16B15-7682-4655-AC8C-7EF22BC1D059}" srcOrd="1" destOrd="0" presId="urn:microsoft.com/office/officeart/2011/layout/CircleProcess"/>
    <dgm:cxn modelId="{0FDEC236-0FBB-41B5-917A-9C25AD834E2B}" type="presOf" srcId="{923B6332-4B9F-406F-A7C6-9DBB4E250BA5}" destId="{0A82FA6F-72FD-4EFA-BA42-1E4C413D8827}" srcOrd="1" destOrd="0" presId="urn:microsoft.com/office/officeart/2011/layout/CircleProcess"/>
    <dgm:cxn modelId="{079F873F-4532-4689-8C53-C54C63FB7ADF}" type="presOf" srcId="{933CB32A-40F5-4E63-B306-1EAE45BBE3C8}" destId="{678F03CA-F847-4602-9E91-96BD99ABC6E2}" srcOrd="0" destOrd="0" presId="urn:microsoft.com/office/officeart/2011/layout/CircleProcess"/>
    <dgm:cxn modelId="{CB61C25D-8D36-4C42-AAE8-8DA957AB4777}" type="presOf" srcId="{97C98E7D-F5D7-4502-9F63-FBE264509DD5}" destId="{7887CB27-7C1F-4AAB-9C54-5ABC528625DC}" srcOrd="0" destOrd="0" presId="urn:microsoft.com/office/officeart/2011/layout/CircleProcess"/>
    <dgm:cxn modelId="{1133CF6E-0757-4B81-B94A-2D3035E31F58}" srcId="{97C98E7D-F5D7-4502-9F63-FBE264509DD5}" destId="{9637C63C-7298-441C-B3D7-905F89BA6086}" srcOrd="1" destOrd="0" parTransId="{D79D0DA1-E9A5-4746-B602-A23632F817A0}" sibTransId="{A94EA3B2-F507-42CC-BA64-CA23E2A9887F}"/>
    <dgm:cxn modelId="{5F9A0B58-698E-4513-8ADE-A3398E7B7B7A}" type="presOf" srcId="{9637C63C-7298-441C-B3D7-905F89BA6086}" destId="{C0D6E78B-258C-4090-BA40-33689E863B15}" srcOrd="1" destOrd="0" presId="urn:microsoft.com/office/officeart/2011/layout/CircleProcess"/>
    <dgm:cxn modelId="{C6AC155A-B260-4285-8012-6720846ED173}" srcId="{97C98E7D-F5D7-4502-9F63-FBE264509DD5}" destId="{933CB32A-40F5-4E63-B306-1EAE45BBE3C8}" srcOrd="0" destOrd="0" parTransId="{05897EC3-B839-43EA-946A-0FC65ABF33A7}" sibTransId="{DE83B2D7-B65C-46F3-B3D2-983377C2E6BC}"/>
    <dgm:cxn modelId="{CC6C7E7B-9939-4504-AF7F-A64330C04458}" type="presOf" srcId="{00DE0DA2-6664-4AF5-87D3-9BC74FBF8B35}" destId="{1FF1F3F0-A2A8-4BA8-A9A9-D16E9BAF8BBC}" srcOrd="0" destOrd="0" presId="urn:microsoft.com/office/officeart/2011/layout/CircleProcess"/>
    <dgm:cxn modelId="{D0335D7C-3C79-4E79-AA07-4CF243261EE5}" type="presOf" srcId="{923B6332-4B9F-406F-A7C6-9DBB4E250BA5}" destId="{2257BE16-8D36-4BA5-8B51-31859AD21C19}" srcOrd="0" destOrd="0" presId="urn:microsoft.com/office/officeart/2011/layout/CircleProcess"/>
    <dgm:cxn modelId="{BF59B88A-4B3F-415E-A2F8-4A3B349A2D2B}" type="presOf" srcId="{D14D52CD-2BA1-4887-8BB1-9AFE86654C0F}" destId="{4472B36D-D727-4732-A5D9-1820A484A51F}" srcOrd="0" destOrd="0" presId="urn:microsoft.com/office/officeart/2011/layout/CircleProcess"/>
    <dgm:cxn modelId="{35B8EE8B-ECC8-4842-8203-79B86284E70B}" type="presOf" srcId="{933CB32A-40F5-4E63-B306-1EAE45BBE3C8}" destId="{BAD20657-B387-4A3B-B6FF-23C17CD94527}" srcOrd="1" destOrd="0" presId="urn:microsoft.com/office/officeart/2011/layout/CircleProcess"/>
    <dgm:cxn modelId="{79EAF3CB-8DA4-4CF4-BF84-A93E4450C499}" srcId="{97C98E7D-F5D7-4502-9F63-FBE264509DD5}" destId="{D14D52CD-2BA1-4887-8BB1-9AFE86654C0F}" srcOrd="4" destOrd="0" parTransId="{6A5208C6-0418-4E2E-91C1-374090CB8D6A}" sibTransId="{81303E11-CB0C-4629-975C-49BDCF6B40D3}"/>
    <dgm:cxn modelId="{B1FC6BDF-4443-4D41-99AB-39D96E28E6B0}" srcId="{97C98E7D-F5D7-4502-9F63-FBE264509DD5}" destId="{00DE0DA2-6664-4AF5-87D3-9BC74FBF8B35}" srcOrd="2" destOrd="0" parTransId="{2EF638FC-27C8-42CD-A26A-BF37C5A2FBF3}" sibTransId="{085F0E96-EF85-4968-91FA-9018758BE76C}"/>
    <dgm:cxn modelId="{AE4D84E9-73F8-4B64-9A6E-6B391AD04C8B}" srcId="{97C98E7D-F5D7-4502-9F63-FBE264509DD5}" destId="{923B6332-4B9F-406F-A7C6-9DBB4E250BA5}" srcOrd="3" destOrd="0" parTransId="{C355D818-8802-49EF-A1F7-7F9498CBB4E4}" sibTransId="{71DFC930-C66D-4956-ACD3-BE06A47B47E6}"/>
    <dgm:cxn modelId="{08EB5181-B0EE-46D7-A3B6-A17A03879CBC}" type="presParOf" srcId="{7887CB27-7C1F-4AAB-9C54-5ABC528625DC}" destId="{75C8CD02-E9C6-49F4-8681-1F4C6F2689BF}" srcOrd="0" destOrd="0" presId="urn:microsoft.com/office/officeart/2011/layout/CircleProcess"/>
    <dgm:cxn modelId="{D39E4234-EFE7-44F1-9F2E-B248C65F18AF}" type="presParOf" srcId="{75C8CD02-E9C6-49F4-8681-1F4C6F2689BF}" destId="{C852D046-2036-425B-BD19-6210ECB3149F}" srcOrd="0" destOrd="0" presId="urn:microsoft.com/office/officeart/2011/layout/CircleProcess"/>
    <dgm:cxn modelId="{0C3B4488-83A3-4BFF-A4BF-9837B6A44CBE}" type="presParOf" srcId="{7887CB27-7C1F-4AAB-9C54-5ABC528625DC}" destId="{17279AE2-63E1-46BD-BFDA-A8B9A5E00F87}" srcOrd="1" destOrd="0" presId="urn:microsoft.com/office/officeart/2011/layout/CircleProcess"/>
    <dgm:cxn modelId="{95E376E1-C9C7-496B-8093-5A1C601C9715}" type="presParOf" srcId="{17279AE2-63E1-46BD-BFDA-A8B9A5E00F87}" destId="{4472B36D-D727-4732-A5D9-1820A484A51F}" srcOrd="0" destOrd="0" presId="urn:microsoft.com/office/officeart/2011/layout/CircleProcess"/>
    <dgm:cxn modelId="{AB2A7314-FD97-4C68-AF61-830298555282}" type="presParOf" srcId="{7887CB27-7C1F-4AAB-9C54-5ABC528625DC}" destId="{CFF16B15-7682-4655-AC8C-7EF22BC1D059}" srcOrd="2" destOrd="0" presId="urn:microsoft.com/office/officeart/2011/layout/CircleProcess"/>
    <dgm:cxn modelId="{20025AC8-6B8D-4414-85B3-C04EAB41D456}" type="presParOf" srcId="{7887CB27-7C1F-4AAB-9C54-5ABC528625DC}" destId="{AA486895-5F59-49E2-8082-078FF59606B7}" srcOrd="3" destOrd="0" presId="urn:microsoft.com/office/officeart/2011/layout/CircleProcess"/>
    <dgm:cxn modelId="{BFA199EB-0669-4C02-8780-A15568CFF6D1}" type="presParOf" srcId="{AA486895-5F59-49E2-8082-078FF59606B7}" destId="{083E8DB2-88FD-4234-B50B-5CB04485FAB9}" srcOrd="0" destOrd="0" presId="urn:microsoft.com/office/officeart/2011/layout/CircleProcess"/>
    <dgm:cxn modelId="{109F3C7B-2A84-4D54-9291-4419FCA0CBCA}" type="presParOf" srcId="{7887CB27-7C1F-4AAB-9C54-5ABC528625DC}" destId="{2BE56991-4E11-4E8B-ADFA-F6DF13C62A07}" srcOrd="4" destOrd="0" presId="urn:microsoft.com/office/officeart/2011/layout/CircleProcess"/>
    <dgm:cxn modelId="{08DD1316-9C6C-4067-A250-96BA7B6CAAC0}" type="presParOf" srcId="{2BE56991-4E11-4E8B-ADFA-F6DF13C62A07}" destId="{2257BE16-8D36-4BA5-8B51-31859AD21C19}" srcOrd="0" destOrd="0" presId="urn:microsoft.com/office/officeart/2011/layout/CircleProcess"/>
    <dgm:cxn modelId="{1221B42E-4312-4CD2-AE1A-0EF1A4BA8C1B}" type="presParOf" srcId="{7887CB27-7C1F-4AAB-9C54-5ABC528625DC}" destId="{0A82FA6F-72FD-4EFA-BA42-1E4C413D8827}" srcOrd="5" destOrd="0" presId="urn:microsoft.com/office/officeart/2011/layout/CircleProcess"/>
    <dgm:cxn modelId="{5ED1E732-B313-4DFE-B3CF-02F1CA6A42F0}" type="presParOf" srcId="{7887CB27-7C1F-4AAB-9C54-5ABC528625DC}" destId="{6FE4B277-0CA2-40DE-B929-9C0516C3C009}" srcOrd="6" destOrd="0" presId="urn:microsoft.com/office/officeart/2011/layout/CircleProcess"/>
    <dgm:cxn modelId="{831D7E73-F081-46A1-AEB9-BF1C31277A06}" type="presParOf" srcId="{6FE4B277-0CA2-40DE-B929-9C0516C3C009}" destId="{12367AD2-52B0-4AE4-AE54-768181765A96}" srcOrd="0" destOrd="0" presId="urn:microsoft.com/office/officeart/2011/layout/CircleProcess"/>
    <dgm:cxn modelId="{4FBF1895-7601-4866-B3B3-C7DC24F50791}" type="presParOf" srcId="{7887CB27-7C1F-4AAB-9C54-5ABC528625DC}" destId="{DCDF2E9B-384A-4A05-B1A1-C16DC819662F}" srcOrd="7" destOrd="0" presId="urn:microsoft.com/office/officeart/2011/layout/CircleProcess"/>
    <dgm:cxn modelId="{921752AF-91F6-4542-81E7-954301DE6B5E}" type="presParOf" srcId="{DCDF2E9B-384A-4A05-B1A1-C16DC819662F}" destId="{1FF1F3F0-A2A8-4BA8-A9A9-D16E9BAF8BBC}" srcOrd="0" destOrd="0" presId="urn:microsoft.com/office/officeart/2011/layout/CircleProcess"/>
    <dgm:cxn modelId="{25583AF5-EDE2-48E4-B71F-756E4A24C3F7}" type="presParOf" srcId="{7887CB27-7C1F-4AAB-9C54-5ABC528625DC}" destId="{97FD066E-49E7-40B4-A5B8-488575FDD613}" srcOrd="8" destOrd="0" presId="urn:microsoft.com/office/officeart/2011/layout/CircleProcess"/>
    <dgm:cxn modelId="{E1FD72F8-C75C-4605-9EBE-417FE3034C4F}" type="presParOf" srcId="{7887CB27-7C1F-4AAB-9C54-5ABC528625DC}" destId="{870824AA-80A4-4C89-B0E7-AF3E6EEBA829}" srcOrd="9" destOrd="0" presId="urn:microsoft.com/office/officeart/2011/layout/CircleProcess"/>
    <dgm:cxn modelId="{E9DA8EB2-6D30-4622-A379-EFF7DC606ABA}" type="presParOf" srcId="{870824AA-80A4-4C89-B0E7-AF3E6EEBA829}" destId="{DD8CD7EC-8079-44AA-9159-90BDA77D88B6}" srcOrd="0" destOrd="0" presId="urn:microsoft.com/office/officeart/2011/layout/CircleProcess"/>
    <dgm:cxn modelId="{1E854DAB-797E-4B11-8DA2-F31387EDB98F}" type="presParOf" srcId="{7887CB27-7C1F-4AAB-9C54-5ABC528625DC}" destId="{7DE2C041-3EAA-4BA8-A0EB-8E8877121DA3}" srcOrd="10" destOrd="0" presId="urn:microsoft.com/office/officeart/2011/layout/CircleProcess"/>
    <dgm:cxn modelId="{80D0F62D-0B4F-4162-862A-15B0C8D22F87}" type="presParOf" srcId="{7DE2C041-3EAA-4BA8-A0EB-8E8877121DA3}" destId="{7D5095F2-99AE-48E9-8B7B-CF238AB58E7E}" srcOrd="0" destOrd="0" presId="urn:microsoft.com/office/officeart/2011/layout/CircleProcess"/>
    <dgm:cxn modelId="{111B900C-9CCC-4870-BF1F-7E4A1F2DD655}" type="presParOf" srcId="{7887CB27-7C1F-4AAB-9C54-5ABC528625DC}" destId="{C0D6E78B-258C-4090-BA40-33689E863B15}" srcOrd="11" destOrd="0" presId="urn:microsoft.com/office/officeart/2011/layout/CircleProcess"/>
    <dgm:cxn modelId="{1F0FE67E-8AF3-4A37-879C-3A5D787C208F}" type="presParOf" srcId="{7887CB27-7C1F-4AAB-9C54-5ABC528625DC}" destId="{BB14B64B-5771-4837-B30E-9F550ACA9152}" srcOrd="12" destOrd="0" presId="urn:microsoft.com/office/officeart/2011/layout/CircleProcess"/>
    <dgm:cxn modelId="{40326B24-3F5A-4EB8-8503-350678E03F43}" type="presParOf" srcId="{BB14B64B-5771-4837-B30E-9F550ACA9152}" destId="{04F00460-688F-4A00-831B-456DCA70157B}" srcOrd="0" destOrd="0" presId="urn:microsoft.com/office/officeart/2011/layout/CircleProcess"/>
    <dgm:cxn modelId="{D74AA9AE-7EFB-4928-85C9-746C47406CAF}" type="presParOf" srcId="{7887CB27-7C1F-4AAB-9C54-5ABC528625DC}" destId="{1260D5D1-1CC9-46C4-B860-3EA629D3A181}" srcOrd="13" destOrd="0" presId="urn:microsoft.com/office/officeart/2011/layout/CircleProcess"/>
    <dgm:cxn modelId="{8FD929C6-3B62-41A8-8956-9BA459FE8B43}" type="presParOf" srcId="{1260D5D1-1CC9-46C4-B860-3EA629D3A181}" destId="{678F03CA-F847-4602-9E91-96BD99ABC6E2}" srcOrd="0" destOrd="0" presId="urn:microsoft.com/office/officeart/2011/layout/CircleProcess"/>
    <dgm:cxn modelId="{09117DC4-F0CC-47D7-B8B9-D5E8F5700714}" type="presParOf" srcId="{7887CB27-7C1F-4AAB-9C54-5ABC528625DC}" destId="{BAD20657-B387-4A3B-B6FF-23C17CD94527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52D046-2036-425B-BD19-6210ECB3149F}">
      <dsp:nvSpPr>
        <dsp:cNvPr id="0" name=""/>
        <dsp:cNvSpPr/>
      </dsp:nvSpPr>
      <dsp:spPr>
        <a:xfrm>
          <a:off x="6745460" y="732491"/>
          <a:ext cx="1538074" cy="15383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72B36D-D727-4732-A5D9-1820A484A51F}">
      <dsp:nvSpPr>
        <dsp:cNvPr id="0" name=""/>
        <dsp:cNvSpPr/>
      </dsp:nvSpPr>
      <dsp:spPr>
        <a:xfrm>
          <a:off x="6796210" y="783777"/>
          <a:ext cx="1435754" cy="14357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/>
            <a:t>Executive Escalation (If Critical)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  Escalate when:                           • Financial reporting risk           Escalation to:                                                          • Governance Committee</a:t>
          </a:r>
          <a:endParaRPr lang="en-GB" sz="1050" kern="1200" dirty="0"/>
        </a:p>
      </dsp:txBody>
      <dsp:txXfrm>
        <a:off x="7001669" y="988924"/>
        <a:ext cx="1025655" cy="1025460"/>
      </dsp:txXfrm>
    </dsp:sp>
    <dsp:sp modelId="{083E8DB2-88FD-4234-B50B-5CB04485FAB9}">
      <dsp:nvSpPr>
        <dsp:cNvPr id="0" name=""/>
        <dsp:cNvSpPr/>
      </dsp:nvSpPr>
      <dsp:spPr>
        <a:xfrm rot="2700000">
          <a:off x="5155086" y="732571"/>
          <a:ext cx="1537896" cy="153789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57BE16-8D36-4BA5-8B51-31859AD21C19}">
      <dsp:nvSpPr>
        <dsp:cNvPr id="0" name=""/>
        <dsp:cNvSpPr/>
      </dsp:nvSpPr>
      <dsp:spPr>
        <a:xfrm>
          <a:off x="5207385" y="783777"/>
          <a:ext cx="1435754" cy="14357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Remediation Plan                                 </a:t>
          </a:r>
          <a:r>
            <a:rPr lang="en-US" sz="1200" kern="1200" dirty="0"/>
            <a:t>• Data cleansing campaign</a:t>
          </a:r>
          <a:br>
            <a:rPr lang="en-US" sz="1200" kern="1200" dirty="0"/>
          </a:br>
          <a:r>
            <a:rPr lang="en-US" sz="1200" kern="1200" dirty="0"/>
            <a:t>• Validation rule enhancement</a:t>
          </a:r>
        </a:p>
      </dsp:txBody>
      <dsp:txXfrm>
        <a:off x="5412025" y="988924"/>
        <a:ext cx="1025655" cy="1025460"/>
      </dsp:txXfrm>
    </dsp:sp>
    <dsp:sp modelId="{12367AD2-52B0-4AE4-AE54-768181765A96}">
      <dsp:nvSpPr>
        <dsp:cNvPr id="0" name=""/>
        <dsp:cNvSpPr/>
      </dsp:nvSpPr>
      <dsp:spPr>
        <a:xfrm rot="2700000">
          <a:off x="3566261" y="732571"/>
          <a:ext cx="1537896" cy="153789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1F3F0-A2A8-4BA8-A9A9-D16E9BAF8BBC}">
      <dsp:nvSpPr>
        <dsp:cNvPr id="0" name=""/>
        <dsp:cNvSpPr/>
      </dsp:nvSpPr>
      <dsp:spPr>
        <a:xfrm>
          <a:off x="3617741" y="783777"/>
          <a:ext cx="1435754" cy="14357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/>
            <a:t>Root Cause Analysis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• System mapping review</a:t>
          </a:r>
          <a:br>
            <a:rPr lang="en-US" sz="1050" kern="1200" dirty="0"/>
          </a:br>
          <a:r>
            <a:rPr lang="en-US" sz="1050" kern="1200" dirty="0"/>
            <a:t>• Data entry process analysis</a:t>
          </a:r>
          <a:br>
            <a:rPr lang="en-US" sz="1050" kern="1200" dirty="0"/>
          </a:br>
          <a:r>
            <a:rPr lang="en-US" sz="1050" kern="1200" dirty="0"/>
            <a:t>• Upstream dependency check</a:t>
          </a:r>
          <a:endParaRPr lang="en-GB" sz="1050" kern="1200" dirty="0"/>
        </a:p>
      </dsp:txBody>
      <dsp:txXfrm>
        <a:off x="3822382" y="988924"/>
        <a:ext cx="1025655" cy="1025460"/>
      </dsp:txXfrm>
    </dsp:sp>
    <dsp:sp modelId="{DD8CD7EC-8079-44AA-9159-90BDA77D88B6}">
      <dsp:nvSpPr>
        <dsp:cNvPr id="0" name=""/>
        <dsp:cNvSpPr/>
      </dsp:nvSpPr>
      <dsp:spPr>
        <a:xfrm rot="2700000">
          <a:off x="1976617" y="732571"/>
          <a:ext cx="1537896" cy="153789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095F2-99AE-48E9-8B7B-CF238AB58E7E}">
      <dsp:nvSpPr>
        <dsp:cNvPr id="0" name=""/>
        <dsp:cNvSpPr/>
      </dsp:nvSpPr>
      <dsp:spPr>
        <a:xfrm>
          <a:off x="2038607" y="773268"/>
          <a:ext cx="1435754" cy="14357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/>
            <a:t>Threshold Breach Identification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Trigger: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• Completeness &lt; 95%</a:t>
          </a:r>
          <a:br>
            <a:rPr lang="en-US" sz="1050" kern="1200" dirty="0"/>
          </a:br>
          <a:r>
            <a:rPr lang="en-US" sz="1050" kern="1200" dirty="0"/>
            <a:t>Automatically flagged in dashboard</a:t>
          </a:r>
          <a:endParaRPr lang="en-GB" sz="1050" kern="1200" dirty="0"/>
        </a:p>
      </dsp:txBody>
      <dsp:txXfrm>
        <a:off x="2244066" y="978414"/>
        <a:ext cx="1025655" cy="1025460"/>
      </dsp:txXfrm>
    </dsp:sp>
    <dsp:sp modelId="{04F00460-688F-4A00-831B-456DCA70157B}">
      <dsp:nvSpPr>
        <dsp:cNvPr id="0" name=""/>
        <dsp:cNvSpPr/>
      </dsp:nvSpPr>
      <dsp:spPr>
        <a:xfrm rot="2700000">
          <a:off x="386974" y="732571"/>
          <a:ext cx="1537896" cy="153789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F03CA-F847-4602-9E91-96BD99ABC6E2}">
      <dsp:nvSpPr>
        <dsp:cNvPr id="0" name=""/>
        <dsp:cNvSpPr/>
      </dsp:nvSpPr>
      <dsp:spPr>
        <a:xfrm>
          <a:off x="450069" y="783777"/>
          <a:ext cx="1435754" cy="14357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/>
            <a:t>Monthly Quality Review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• Data stewards present KPI dashboard</a:t>
          </a:r>
          <a:br>
            <a:rPr lang="en-US" sz="1050" kern="1200" dirty="0"/>
          </a:br>
          <a:r>
            <a:rPr lang="en-US" sz="1050" kern="1200" dirty="0"/>
            <a:t>• Domain performance reviewed</a:t>
          </a:r>
          <a:endParaRPr lang="en-GB" sz="1050" kern="1200" dirty="0"/>
        </a:p>
      </dsp:txBody>
      <dsp:txXfrm>
        <a:off x="655528" y="988924"/>
        <a:ext cx="1025655" cy="1025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79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50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264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9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769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8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33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1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20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82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00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39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Enterprise Data Governance &amp; Quality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Internal Governance Monitoring Model | Neliswa Mbeje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Executive Context &amp; Business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noProof="0" dirty="0"/>
              <a:t>• Inconsistent CRM &amp; pricing data integrity across domains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/>
              <a:t>Duplicate records impacting segmentation and reporting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/>
              <a:t>Lack of centralised quality monitoring</a:t>
            </a:r>
          </a:p>
          <a:p>
            <a:pPr lvl="1"/>
            <a:endParaRPr lang="en-GB" noProof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/>
              <a:t>Strategic Risk: Reporting inaccuracy, client misclassification, pricing inconsistency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Governance Operating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Data Owner – Business accountability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/>
              <a:t>Data Steward – Quality monitoring &amp; KPI tracking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/>
              <a:t>Data Custodian – System &amp; infrastructure control</a:t>
            </a:r>
          </a:p>
          <a:p>
            <a:pPr marL="201168" lvl="1" indent="0">
              <a:buNone/>
            </a:pPr>
            <a:endParaRPr lang="en-GB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3BC2CE-243F-87DC-C808-053E678E27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4231"/>
          <a:stretch>
            <a:fillRect/>
          </a:stretch>
        </p:blipFill>
        <p:spPr>
          <a:xfrm>
            <a:off x="777240" y="3115629"/>
            <a:ext cx="7543800" cy="20050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 Quality KPI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Completeness % = </a:t>
            </a:r>
            <a:r>
              <a:rPr lang="en-GB" noProof="0" dirty="0" err="1"/>
              <a:t>CompleteRecords</a:t>
            </a:r>
            <a:r>
              <a:rPr lang="en-GB" noProof="0" dirty="0"/>
              <a:t> / </a:t>
            </a:r>
            <a:r>
              <a:rPr lang="en-GB" noProof="0" dirty="0" err="1"/>
              <a:t>TotalRecords</a:t>
            </a:r>
            <a:endParaRPr lang="en-GB" noProof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/>
              <a:t>Duplication % = </a:t>
            </a:r>
            <a:r>
              <a:rPr lang="en-GB" noProof="0" dirty="0" err="1"/>
              <a:t>DuplicateRecords</a:t>
            </a:r>
            <a:r>
              <a:rPr lang="en-GB" noProof="0" dirty="0"/>
              <a:t> / </a:t>
            </a:r>
            <a:r>
              <a:rPr lang="en-GB" noProof="0" dirty="0" err="1"/>
              <a:t>TotalRecords</a:t>
            </a:r>
            <a:endParaRPr lang="en-GB" noProof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/>
              <a:t>Error Rate % = </a:t>
            </a:r>
            <a:r>
              <a:rPr lang="en-GB" noProof="0" dirty="0" err="1"/>
              <a:t>ErrorRecords</a:t>
            </a:r>
            <a:r>
              <a:rPr lang="en-GB" noProof="0" dirty="0"/>
              <a:t> / </a:t>
            </a:r>
            <a:r>
              <a:rPr lang="en-GB" noProof="0" dirty="0" err="1"/>
              <a:t>TotalRecords</a:t>
            </a:r>
            <a:endParaRPr lang="en-GB" noProof="0" dirty="0"/>
          </a:p>
          <a:p>
            <a:pPr lvl="1"/>
            <a:endParaRPr lang="en-GB" noProof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/>
              <a:t>Targets: Completeness ≥ 95% | Duplication ≤ 2% | Error ≤ 1.5%</a:t>
            </a:r>
          </a:p>
          <a:p>
            <a:pPr lvl="1"/>
            <a:endParaRPr lang="en-GB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FFEBA2-36D3-B717-9F95-B1AAB7F54A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683" b="58020"/>
          <a:stretch>
            <a:fillRect/>
          </a:stretch>
        </p:blipFill>
        <p:spPr>
          <a:xfrm>
            <a:off x="1016554" y="3528087"/>
            <a:ext cx="5941295" cy="25994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Executive Data Quality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[INSERT DASHBOARD PAGE 1 SCREENSHOT HERE]</a:t>
            </a:r>
          </a:p>
          <a:p>
            <a:pPr lvl="1"/>
            <a:endParaRPr lang="en-GB" noProof="0" dirty="0"/>
          </a:p>
          <a:p>
            <a:pPr lvl="1"/>
            <a:r>
              <a:rPr lang="en-GB" noProof="0" dirty="0"/>
              <a:t>Dashboard Must Include:</a:t>
            </a:r>
          </a:p>
          <a:p>
            <a:pPr marL="457200" lvl="1" indent="0">
              <a:buNone/>
            </a:pPr>
            <a:r>
              <a:rPr lang="en-GB" noProof="0" dirty="0"/>
              <a:t>	• 3 KPI Cards (Completeness, Duplication, Error)</a:t>
            </a:r>
          </a:p>
          <a:p>
            <a:pPr marL="457200" lvl="1" indent="0">
              <a:buNone/>
            </a:pPr>
            <a:r>
              <a:rPr lang="en-GB" noProof="0" dirty="0"/>
              <a:t>	• 12-Month Trend Line</a:t>
            </a:r>
          </a:p>
          <a:p>
            <a:pPr marL="457200" lvl="1" indent="0">
              <a:buNone/>
            </a:pPr>
            <a:r>
              <a:rPr lang="en-GB" noProof="0" dirty="0"/>
              <a:t>	• Domain Comparison Column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64517-4B9D-94FE-D87B-67B296160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45734"/>
            <a:ext cx="7787639" cy="43608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Quality Trend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noProof="0" dirty="0"/>
              <a:t>Commentary:</a:t>
            </a:r>
          </a:p>
          <a:p>
            <a:pPr marL="457200" lvl="1" indent="0">
              <a:buNone/>
            </a:pPr>
            <a:r>
              <a:rPr lang="en-GB" noProof="0" dirty="0"/>
              <a:t>• Sustained improvement month-over-month</a:t>
            </a:r>
          </a:p>
          <a:p>
            <a:pPr marL="457200" lvl="1" indent="0">
              <a:buNone/>
            </a:pPr>
            <a:r>
              <a:rPr lang="en-GB" noProof="0" dirty="0"/>
              <a:t>• Duplication reduction via cleansing initiative</a:t>
            </a:r>
          </a:p>
          <a:p>
            <a:pPr marL="457200" lvl="1" indent="0">
              <a:buNone/>
            </a:pPr>
            <a:r>
              <a:rPr lang="en-GB" noProof="0" dirty="0"/>
              <a:t>• Error rate decline after validation automation</a:t>
            </a:r>
          </a:p>
          <a:p>
            <a:pPr marL="457200" lvl="1" indent="0">
              <a:buNone/>
            </a:pPr>
            <a:endParaRPr lang="en-GB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510FE9-D9C7-A184-47DB-766C39F5B7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674" b="37941"/>
          <a:stretch>
            <a:fillRect/>
          </a:stretch>
        </p:blipFill>
        <p:spPr>
          <a:xfrm>
            <a:off x="822959" y="3174124"/>
            <a:ext cx="7662041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Domain Risk Scorecard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noProof="0" dirty="0"/>
              <a:t>Apply Conditional Formatting:</a:t>
            </a:r>
          </a:p>
          <a:p>
            <a:pPr marL="457200" lvl="1" indent="0">
              <a:buNone/>
            </a:pPr>
            <a:r>
              <a:rPr lang="en-GB" dirty="0"/>
              <a:t>	</a:t>
            </a:r>
            <a:r>
              <a:rPr lang="en-GB" noProof="0" dirty="0"/>
              <a:t>• Completeness &lt;95%</a:t>
            </a:r>
          </a:p>
          <a:p>
            <a:pPr marL="457200" lvl="1" indent="0">
              <a:buNone/>
            </a:pPr>
            <a:r>
              <a:rPr lang="en-GB" noProof="0" dirty="0"/>
              <a:t>	• Duplication &gt;3% </a:t>
            </a:r>
          </a:p>
          <a:p>
            <a:pPr marL="457200" lvl="1" indent="0">
              <a:buNone/>
            </a:pPr>
            <a:r>
              <a:rPr lang="en-GB" noProof="0" dirty="0"/>
              <a:t>	• Error &gt;2%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90B425-2D0F-930E-66CD-304140894F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004" b="57741"/>
          <a:stretch>
            <a:fillRect/>
          </a:stretch>
        </p:blipFill>
        <p:spPr>
          <a:xfrm>
            <a:off x="1090126" y="3353734"/>
            <a:ext cx="6267115" cy="2515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Governance Committee &amp; Escalation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8068793" cy="4023360"/>
          </a:xfrm>
        </p:spPr>
        <p:txBody>
          <a:bodyPr/>
          <a:lstStyle/>
          <a:p>
            <a:r>
              <a:rPr lang="en-GB" noProof="0" dirty="0"/>
              <a:t>Monthly Quality Review Meeting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/>
              <a:t>Threshold breach identification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/>
              <a:t>Root cause analysis &amp; remediation plan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/>
              <a:t>Executive escalation if critical risk</a:t>
            </a:r>
          </a:p>
          <a:p>
            <a:pPr lvl="1"/>
            <a:endParaRPr lang="en-GB" noProof="0" dirty="0"/>
          </a:p>
          <a:p>
            <a:pPr lvl="1"/>
            <a:endParaRPr lang="en-GB" noProof="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D2AC59A-D612-B2B5-21BC-60796795B1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192475"/>
              </p:ext>
            </p:extLst>
          </p:nvPr>
        </p:nvGraphicFramePr>
        <p:xfrm>
          <a:off x="493986" y="2974428"/>
          <a:ext cx="8352000" cy="30030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Strategic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noProof="0" dirty="0"/>
              <a:t>• +3–4% reporting accuracy improvement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/>
              <a:t> Improved CRM segmentation reliability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/>
              <a:t> Reduced pricing inconsistency risk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/>
              <a:t> Strengthened executive data trust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Next Phase Governance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noProof="0" dirty="0"/>
              <a:t>• Master Data Management integration</a:t>
            </a:r>
          </a:p>
          <a:p>
            <a:pPr marL="457200" lvl="1" indent="0">
              <a:buNone/>
            </a:pPr>
            <a:r>
              <a:rPr lang="en-GB" noProof="0" dirty="0"/>
              <a:t>• Automated anomaly detection</a:t>
            </a:r>
          </a:p>
          <a:p>
            <a:pPr marL="457200" lvl="1" indent="0">
              <a:buNone/>
            </a:pPr>
            <a:r>
              <a:rPr lang="en-GB" noProof="0" dirty="0"/>
              <a:t>• Cross-market governance alignment</a:t>
            </a:r>
          </a:p>
          <a:p>
            <a:pPr marL="457200" lvl="1" indent="0">
              <a:buNone/>
            </a:pPr>
            <a:r>
              <a:rPr lang="en-GB" noProof="0" dirty="0"/>
              <a:t>• Governance maturity score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132</TotalTime>
  <Words>345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Retrospect</vt:lpstr>
      <vt:lpstr>Enterprise Data Governance &amp; Quality Framework</vt:lpstr>
      <vt:lpstr>Executive Context &amp; Business Risk</vt:lpstr>
      <vt:lpstr>Governance Operating Model</vt:lpstr>
      <vt:lpstr>Data Quality KPI Framework</vt:lpstr>
      <vt:lpstr>Executive Data Quality Dashboard</vt:lpstr>
      <vt:lpstr>Quality Trend Monitoring</vt:lpstr>
      <vt:lpstr>Domain Risk Scorecard</vt:lpstr>
      <vt:lpstr>Governance Committee &amp; Escalation Model</vt:lpstr>
      <vt:lpstr>Strategic Business Impact</vt:lpstr>
      <vt:lpstr>Next Phase Governance Roadmap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Neliswa</dc:creator>
  <cp:keywords/>
  <dc:description>generated using python-pptx</dc:description>
  <cp:lastModifiedBy>Neliswa Mbeje</cp:lastModifiedBy>
  <cp:revision>4</cp:revision>
  <dcterms:created xsi:type="dcterms:W3CDTF">2013-01-27T09:14:16Z</dcterms:created>
  <dcterms:modified xsi:type="dcterms:W3CDTF">2026-02-23T22:48:54Z</dcterms:modified>
  <cp:category/>
</cp:coreProperties>
</file>