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744" r:id="rId1"/>
  </p:sldMasterIdLst>
  <p:sldIdLst>
    <p:sldId id="256" r:id="rId2"/>
    <p:sldId id="257" r:id="rId3"/>
    <p:sldId id="265" r:id="rId4"/>
    <p:sldId id="258" r:id="rId5"/>
    <p:sldId id="259" r:id="rId6"/>
    <p:sldId id="260" r:id="rId7"/>
    <p:sldId id="261" r:id="rId8"/>
    <p:sldId id="262" r:id="rId9"/>
    <p:sldId id="266" r:id="rId10"/>
    <p:sldId id="263" r:id="rId11"/>
    <p:sldId id="264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75" d="100"/>
          <a:sy n="75" d="100"/>
        </p:scale>
        <p:origin x="715" y="43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2382" y="6400800"/>
            <a:ext cx="9141619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8" name="Rectangle 7"/>
          <p:cNvSpPr/>
          <p:nvPr/>
        </p:nvSpPr>
        <p:spPr>
          <a:xfrm>
            <a:off x="12" y="6334316"/>
            <a:ext cx="9141619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22960" y="758952"/>
            <a:ext cx="7543800" cy="3566160"/>
          </a:xfrm>
        </p:spPr>
        <p:txBody>
          <a:bodyPr anchor="b">
            <a:normAutofit/>
          </a:bodyPr>
          <a:lstStyle>
            <a:lvl1pPr algn="l">
              <a:lnSpc>
                <a:spcPct val="85000"/>
              </a:lnSpc>
              <a:defRPr sz="8000" spc="-5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25038" y="4455621"/>
            <a:ext cx="7543800" cy="1143000"/>
          </a:xfrm>
        </p:spPr>
        <p:txBody>
          <a:bodyPr lIns="91440" rIns="91440">
            <a:normAutofit/>
          </a:bodyPr>
          <a:lstStyle>
            <a:lvl1pPr marL="0" indent="0" algn="l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 algn="ctr">
              <a:buNone/>
              <a:defRPr sz="24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9" name="Straight Connector 8"/>
          <p:cNvCxnSpPr/>
          <p:nvPr/>
        </p:nvCxnSpPr>
        <p:spPr>
          <a:xfrm>
            <a:off x="905744" y="4343400"/>
            <a:ext cx="740664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1837322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8068870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2382" y="6400800"/>
            <a:ext cx="9141619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2" y="6334316"/>
            <a:ext cx="9141619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22960" y="758952"/>
            <a:ext cx="7543800" cy="3566160"/>
          </a:xfrm>
        </p:spPr>
        <p:txBody>
          <a:bodyPr anchor="b" anchorCtr="0">
            <a:normAutofit/>
          </a:bodyPr>
          <a:lstStyle>
            <a:lvl1pPr>
              <a:lnSpc>
                <a:spcPct val="85000"/>
              </a:lnSpc>
              <a:defRPr sz="8000" b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22960" y="4453128"/>
            <a:ext cx="7543800" cy="1143000"/>
          </a:xfrm>
        </p:spPr>
        <p:txBody>
          <a:bodyPr lIns="91440" rIns="91440" anchor="t" anchorCtr="0">
            <a:normAutofit/>
          </a:bodyPr>
          <a:lstStyle>
            <a:lvl1pPr marL="0" indent="0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9" name="Straight Connector 8"/>
          <p:cNvCxnSpPr/>
          <p:nvPr/>
        </p:nvCxnSpPr>
        <p:spPr>
          <a:xfrm>
            <a:off x="905744" y="4343400"/>
            <a:ext cx="740664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69237592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822960" y="286604"/>
            <a:ext cx="754380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22960" y="1845735"/>
            <a:ext cx="3703320" cy="402335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63440" y="1845735"/>
            <a:ext cx="3703320" cy="4023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6935410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822960" y="286604"/>
            <a:ext cx="754380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22960" y="1846052"/>
            <a:ext cx="370332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22960" y="2582335"/>
            <a:ext cx="3703320" cy="32867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63440" y="1846052"/>
            <a:ext cx="370332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63440" y="2582334"/>
            <a:ext cx="3703320" cy="32867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2/22/2026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030705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2/22/2026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5945551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2382" y="6400800"/>
            <a:ext cx="9141619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" name="Rectangle 5"/>
          <p:cNvSpPr/>
          <p:nvPr/>
        </p:nvSpPr>
        <p:spPr>
          <a:xfrm>
            <a:off x="12" y="6334316"/>
            <a:ext cx="9141619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2/22/2026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0834166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13" y="0"/>
            <a:ext cx="3038093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3030053" y="0"/>
            <a:ext cx="48006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42900" y="594359"/>
            <a:ext cx="2400300" cy="2286000"/>
          </a:xfrm>
        </p:spPr>
        <p:txBody>
          <a:bodyPr anchor="b">
            <a:norm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600450" y="731520"/>
            <a:ext cx="4869180" cy="52578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42900" y="2926080"/>
            <a:ext cx="2400300" cy="3379124"/>
          </a:xfrm>
        </p:spPr>
        <p:txBody>
          <a:bodyPr lIns="91440" rIns="91440">
            <a:normAutofit/>
          </a:bodyPr>
          <a:lstStyle>
            <a:lvl1pPr marL="0" indent="0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349134" y="6459786"/>
            <a:ext cx="1963883" cy="365125"/>
          </a:xfrm>
        </p:spPr>
        <p:txBody>
          <a:bodyPr/>
          <a:lstStyle>
            <a:lvl1pPr algn="l">
              <a:defRPr/>
            </a:lvl1pPr>
          </a:lstStyle>
          <a:p>
            <a:fld id="{5BCAD085-E8A6-8845-BD4E-CB4CCA059FC4}" type="datetimeFigureOut">
              <a:rPr lang="en-US" smtClean="0"/>
              <a:t>2/22/2026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600450" y="6459786"/>
            <a:ext cx="3486150" cy="365125"/>
          </a:xfrm>
        </p:spPr>
        <p:txBody>
          <a:bodyPr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4533607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4953000"/>
            <a:ext cx="9141619" cy="1905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2" y="4915076"/>
            <a:ext cx="9141619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22960" y="5074920"/>
            <a:ext cx="7589520" cy="822960"/>
          </a:xfrm>
        </p:spPr>
        <p:txBody>
          <a:bodyPr tIns="0" bIns="0" anchor="b">
            <a:no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2" y="0"/>
            <a:ext cx="9143989" cy="4915076"/>
          </a:xfrm>
          <a:solidFill>
            <a:schemeClr val="bg2">
              <a:lumMod val="90000"/>
            </a:schemeClr>
          </a:solidFill>
        </p:spPr>
        <p:txBody>
          <a:bodyPr lIns="457200" tIns="457200"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22960" y="5907024"/>
            <a:ext cx="7589520" cy="594360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455482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lIns="45720" tIns="0" rIns="4572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066799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2382" y="6400800"/>
            <a:ext cx="9141619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2" y="6334316"/>
            <a:ext cx="9141619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412302"/>
            <a:ext cx="1971675" cy="575989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412302"/>
            <a:ext cx="5800725" cy="5759898"/>
          </a:xfrm>
        </p:spPr>
        <p:txBody>
          <a:bodyPr vert="eaVert" lIns="45720" tIns="0" rIns="4572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3187319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0" y="6400800"/>
            <a:ext cx="9144001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9" name="Rectangle 8"/>
          <p:cNvSpPr/>
          <p:nvPr/>
        </p:nvSpPr>
        <p:spPr>
          <a:xfrm>
            <a:off x="0" y="6334316"/>
            <a:ext cx="9144001" cy="6648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22960" y="286604"/>
            <a:ext cx="7543800" cy="145075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22959" y="1845734"/>
            <a:ext cx="7543801" cy="4023360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22961" y="6459786"/>
            <a:ext cx="185420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rgbClr val="FFFFFF"/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2/22/2026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764639" y="6459786"/>
            <a:ext cx="361710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 cap="all" baseline="0">
                <a:solidFill>
                  <a:srgbClr val="FFFFFF"/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425344" y="6459786"/>
            <a:ext cx="9840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rgbClr val="FFFFFF"/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10" name="Straight Connector 9"/>
          <p:cNvCxnSpPr/>
          <p:nvPr/>
        </p:nvCxnSpPr>
        <p:spPr>
          <a:xfrm>
            <a:off x="895149" y="1737845"/>
            <a:ext cx="74752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89703294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45" r:id="rId1"/>
    <p:sldLayoutId id="2147483746" r:id="rId2"/>
    <p:sldLayoutId id="2147483747" r:id="rId3"/>
    <p:sldLayoutId id="2147483748" r:id="rId4"/>
    <p:sldLayoutId id="2147483749" r:id="rId5"/>
    <p:sldLayoutId id="2147483750" r:id="rId6"/>
    <p:sldLayoutId id="2147483751" r:id="rId7"/>
    <p:sldLayoutId id="2147483752" r:id="rId8"/>
    <p:sldLayoutId id="2147483753" r:id="rId9"/>
    <p:sldLayoutId id="2147483754" r:id="rId10"/>
    <p:sldLayoutId id="2147483755" r:id="rId11"/>
  </p:sldLayoutIdLst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4800" kern="1200" spc="-50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Calibri" panose="020F0502020204030204" pitchFamily="34" charset="0"/>
        <a:buChar char=" "/>
        <a:defRPr sz="20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38404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56692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74980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93268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1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3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5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7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t>Luxury Client Value &amp; Retention Intelligence Program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dirty="0"/>
              <a:t>Executive CRM Simulation </a:t>
            </a:r>
            <a:endParaRPr lang="en-US" dirty="0"/>
          </a:p>
          <a:p>
            <a:r>
              <a:rPr dirty="0"/>
              <a:t>Neliswa Mbeje</a:t>
            </a:r>
            <a:endParaRPr lang="en-US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Executive Summary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300 global luxury clients | VIC / Elite / Premium segmentation</a:t>
            </a:r>
          </a:p>
          <a:p>
            <a:pPr lvl="1"/>
            <a:r>
              <a:rPr dirty="0"/>
              <a:t>Retention Rate: 55%</a:t>
            </a:r>
          </a:p>
          <a:p>
            <a:pPr lvl="1"/>
            <a:r>
              <a:rPr dirty="0"/>
              <a:t>62% revenue concentrated in top 30% clients</a:t>
            </a:r>
          </a:p>
          <a:p>
            <a:pPr lvl="1"/>
            <a:r>
              <a:rPr dirty="0"/>
              <a:t>€1.8M revenue identified at churn risk</a:t>
            </a:r>
          </a:p>
          <a:p>
            <a:pPr lvl="1"/>
            <a:r>
              <a:rPr dirty="0"/>
              <a:t>Objective: Transform CRM into revenue protection engine</a:t>
            </a:r>
            <a:endParaRPr lang="en-US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85B577-CD02-C222-ADF8-B671D69295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EXECUTIVE OVERVIEW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DEDF6948-BE23-995C-2917-AA8467F9197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965200" y="1846263"/>
            <a:ext cx="7148909" cy="40227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9366265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Client Value Pyramid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VIC: 28% clients → 45% revenue</a:t>
            </a:r>
          </a:p>
          <a:p>
            <a:pPr lvl="1"/>
            <a:r>
              <a:rPr dirty="0"/>
              <a:t>Elite: 32% → 30% revenue</a:t>
            </a:r>
          </a:p>
          <a:p>
            <a:pPr lvl="1"/>
            <a:r>
              <a:rPr dirty="0"/>
              <a:t>Premium: 40% → 25% revenue</a:t>
            </a:r>
          </a:p>
          <a:p>
            <a:pPr lvl="1"/>
            <a:r>
              <a:rPr dirty="0"/>
              <a:t>High concentration risk in VIP tier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A8B3E3E-CCDC-6A6F-9DC6-0269CCF6AF2C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13125" r="54111" b="42375"/>
          <a:stretch>
            <a:fillRect/>
          </a:stretch>
        </p:blipFill>
        <p:spPr>
          <a:xfrm>
            <a:off x="1066800" y="3227493"/>
            <a:ext cx="5233824" cy="2749974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Revenue at Risk Model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24559" y="1845734"/>
            <a:ext cx="7543801" cy="4023360"/>
          </a:xfrm>
        </p:spPr>
        <p:txBody>
          <a:bodyPr/>
          <a:lstStyle/>
          <a:p>
            <a:r>
              <a:rPr dirty="0"/>
              <a:t>Revenue at Risk = Total Spend × Churn Risk Score ≥ 0.7</a:t>
            </a:r>
          </a:p>
          <a:p>
            <a:pPr lvl="1"/>
            <a:r>
              <a:rPr dirty="0"/>
              <a:t>22% clients classified High Risk</a:t>
            </a:r>
          </a:p>
          <a:p>
            <a:pPr lvl="1"/>
            <a:r>
              <a:rPr dirty="0"/>
              <a:t>38% of at-risk revenue within VIP tier</a:t>
            </a:r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BEF77FE-4D5B-9239-1AAD-9F3A17AF06DE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51056" t="56380" r="-1056" b="-53491"/>
          <a:stretch>
            <a:fillRect/>
          </a:stretch>
        </p:blipFill>
        <p:spPr>
          <a:xfrm>
            <a:off x="4676139" y="3024550"/>
            <a:ext cx="4572000" cy="5026323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B276A673-FA0A-D32F-F02D-2FF5307D22A9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50000" b="44536"/>
          <a:stretch>
            <a:fillRect/>
          </a:stretch>
        </p:blipFill>
        <p:spPr>
          <a:xfrm>
            <a:off x="237813" y="2870199"/>
            <a:ext cx="4776147" cy="2998895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Behavioural Drivers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Personal Stylist Clients: +18% AOV</a:t>
            </a:r>
          </a:p>
          <a:p>
            <a:pPr lvl="1"/>
            <a:r>
              <a:rPr dirty="0"/>
              <a:t>High Email Engagement: +23% Purchase Frequency</a:t>
            </a:r>
          </a:p>
          <a:p>
            <a:pPr lvl="1"/>
            <a:r>
              <a:rPr dirty="0"/>
              <a:t>Boutique Channel: +15% retention uplift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D0541FA-A944-7062-559E-C6D02AEA750C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39417" r="55111"/>
          <a:stretch>
            <a:fillRect/>
          </a:stretch>
        </p:blipFill>
        <p:spPr>
          <a:xfrm>
            <a:off x="4435194" y="2849880"/>
            <a:ext cx="4104640" cy="3344291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43D13B71-4E08-F136-2FCA-67A631F8EE51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46444" r="19730" b="59111"/>
          <a:stretch>
            <a:fillRect/>
          </a:stretch>
        </p:blipFill>
        <p:spPr>
          <a:xfrm>
            <a:off x="822960" y="3312159"/>
            <a:ext cx="3093011" cy="2257171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Client Lifetime Value Projection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CLV = AOV × Purchase Frequency × Duration</a:t>
            </a:r>
          </a:p>
          <a:p>
            <a:pPr lvl="1"/>
            <a:r>
              <a:rPr dirty="0"/>
              <a:t>VIP CLV 3.4x Premium</a:t>
            </a:r>
          </a:p>
          <a:p>
            <a:pPr lvl="1"/>
            <a:r>
              <a:rPr dirty="0"/>
              <a:t>+10% retention → +22% revenue uplift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64D492C-4699-6CA8-4FAB-5238DAACD046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-1" r="61445" b="55471"/>
          <a:stretch>
            <a:fillRect/>
          </a:stretch>
        </p:blipFill>
        <p:spPr>
          <a:xfrm>
            <a:off x="1239520" y="2908075"/>
            <a:ext cx="5161280" cy="305246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6-Month Strategic Forecast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Retention 55% → 68%</a:t>
            </a:r>
          </a:p>
          <a:p>
            <a:pPr lvl="1"/>
            <a:r>
              <a:rPr dirty="0"/>
              <a:t>Revenue at Risk -40%</a:t>
            </a:r>
          </a:p>
          <a:p>
            <a:pPr lvl="1"/>
            <a:r>
              <a:rPr dirty="0"/>
              <a:t>VIP Revenue Share 62% → 72%</a:t>
            </a:r>
          </a:p>
          <a:p>
            <a:pPr lvl="1"/>
            <a:r>
              <a:rPr dirty="0"/>
              <a:t>AOV Growth +1</a:t>
            </a:r>
            <a:r>
              <a:rPr lang="en-US" dirty="0"/>
              <a:t>5</a:t>
            </a:r>
            <a:r>
              <a:rPr dirty="0"/>
              <a:t>%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5CC78D-FC4C-5B19-0B60-6B0B8BE00A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6-Month Strategic Forecast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4CC5A584-3798-B330-745D-84560A66ADC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346830" y="1846263"/>
            <a:ext cx="6494790" cy="40227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9348381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CRM Governance Framework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Monthly churn review cadence</a:t>
            </a:r>
          </a:p>
          <a:p>
            <a:pPr lvl="1"/>
            <a:r>
              <a:t>VIP protection playbooks</a:t>
            </a:r>
          </a:p>
          <a:p>
            <a:pPr lvl="1"/>
            <a:r>
              <a:t>Tier-based engagement strategy</a:t>
            </a:r>
          </a:p>
          <a:p>
            <a:pPr lvl="1"/>
            <a:r>
              <a:t>Executive dashboard reporting structure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FAC93D9-0D88-7217-34B3-A037C2876131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43228" r="51445"/>
          <a:stretch>
            <a:fillRect/>
          </a:stretch>
        </p:blipFill>
        <p:spPr>
          <a:xfrm>
            <a:off x="914400" y="3210560"/>
            <a:ext cx="4439920" cy="2938444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Strategic Value to the Maison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Revenue Protection Engine</a:t>
            </a:r>
          </a:p>
          <a:p>
            <a:pPr lvl="1"/>
            <a:r>
              <a:t>VIP Growth Accelerator</a:t>
            </a:r>
          </a:p>
          <a:p>
            <a:pPr lvl="1"/>
            <a:r>
              <a:t>Predictive Retention Intelligence</a:t>
            </a:r>
          </a:p>
          <a:p>
            <a:pPr lvl="1"/>
            <a:r>
              <a:t>Data-Driven Personalisation Infrastructure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Retrospect">
  <a:themeElements>
    <a:clrScheme name="Retrospect">
      <a:dk1>
        <a:sysClr val="windowText" lastClr="000000"/>
      </a:dk1>
      <a:lt1>
        <a:sysClr val="window" lastClr="FFFFFF"/>
      </a:lt1>
      <a:dk2>
        <a:srgbClr val="344068"/>
      </a:dk2>
      <a:lt2>
        <a:srgbClr val="D9E0E6"/>
      </a:lt2>
      <a:accent1>
        <a:srgbClr val="1CADE4"/>
      </a:accent1>
      <a:accent2>
        <a:srgbClr val="2683C6"/>
      </a:accent2>
      <a:accent3>
        <a:srgbClr val="28C4CC"/>
      </a:accent3>
      <a:accent4>
        <a:srgbClr val="42BA97"/>
      </a:accent4>
      <a:accent5>
        <a:srgbClr val="3E8853"/>
      </a:accent5>
      <a:accent6>
        <a:srgbClr val="62A39F"/>
      </a:accent6>
      <a:hlink>
        <a:srgbClr val="6EAC1C"/>
      </a:hlink>
      <a:folHlink>
        <a:srgbClr val="B26B02"/>
      </a:folHlink>
    </a:clrScheme>
    <a:fontScheme name="Retrospect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Retrospec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Retrospect" id="{5F128B03-DCCA-4EEB-AB3B-CF2899314A46}" vid="{9CC26709-368C-4D72-9060-94E5B3FF3CD6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Retrospect</Template>
  <TotalTime>109</TotalTime>
  <Words>239</Words>
  <Application>Microsoft Office PowerPoint</Application>
  <PresentationFormat>On-screen Show (4:3)</PresentationFormat>
  <Paragraphs>43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Calibri</vt:lpstr>
      <vt:lpstr>Calibri Light</vt:lpstr>
      <vt:lpstr>Retrospect</vt:lpstr>
      <vt:lpstr>Luxury Client Value &amp; Retention Intelligence Program</vt:lpstr>
      <vt:lpstr>Executive Summary</vt:lpstr>
      <vt:lpstr>EXECUTIVE OVERVIEW</vt:lpstr>
      <vt:lpstr>Client Value Pyramid</vt:lpstr>
      <vt:lpstr>Revenue at Risk Model</vt:lpstr>
      <vt:lpstr>Behavioural Drivers</vt:lpstr>
      <vt:lpstr>Client Lifetime Value Projection</vt:lpstr>
      <vt:lpstr>6-Month Strategic Forecast</vt:lpstr>
      <vt:lpstr>6-Month Strategic Forecast</vt:lpstr>
      <vt:lpstr>CRM Governance Framework</vt:lpstr>
      <vt:lpstr>Strategic Value to the Maison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Neliswa</dc:creator>
  <cp:keywords/>
  <dc:description>generated using python-pptx</dc:description>
  <cp:lastModifiedBy>Neliswa Mbeje</cp:lastModifiedBy>
  <cp:revision>3</cp:revision>
  <dcterms:created xsi:type="dcterms:W3CDTF">2013-01-27T09:14:16Z</dcterms:created>
  <dcterms:modified xsi:type="dcterms:W3CDTF">2026-02-22T01:01:11Z</dcterms:modified>
  <cp:category/>
</cp:coreProperties>
</file>