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7" r:id="rId11"/>
    <p:sldId id="265" r:id="rId12"/>
    <p:sldId id="268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BCD7D5-2B11-42CD-B8B7-16C923135D3B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C31F52-DA4B-431C-84F0-05A089740F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586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442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585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034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5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43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5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275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753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1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60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843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1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4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9144001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35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Digital Workplace Adoption Acceleration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Dior UX Adoption Strategy Simulation</a:t>
            </a:r>
          </a:p>
          <a:p>
            <a:r>
              <a:t>Neliswa Mbeje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Executive Summary — Digital Workplace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Adoption Rate: 29% (43 / 150 active users)</a:t>
            </a:r>
          </a:p>
          <a:p>
            <a:pPr lvl="1"/>
            <a:r>
              <a:rPr dirty="0"/>
              <a:t>Training Completion: 53%</a:t>
            </a:r>
          </a:p>
          <a:p>
            <a:pPr lvl="1"/>
            <a:r>
              <a:rPr dirty="0"/>
              <a:t>Support Tickets: 243</a:t>
            </a:r>
          </a:p>
          <a:p>
            <a:pPr lvl="1"/>
            <a:r>
              <a:rPr dirty="0"/>
              <a:t>User Satisfaction: 4.23 / 5</a:t>
            </a:r>
          </a:p>
          <a:p>
            <a:pPr lvl="1"/>
            <a:endParaRPr dirty="0"/>
          </a:p>
          <a:p>
            <a:pPr lvl="1"/>
            <a:r>
              <a:rPr dirty="0"/>
              <a:t>Key Risks:</a:t>
            </a:r>
          </a:p>
          <a:p>
            <a:pPr lvl="1"/>
            <a:r>
              <a:rPr dirty="0"/>
              <a:t> Low adoption maturity in Retail &amp; Manufacturing</a:t>
            </a:r>
          </a:p>
          <a:p>
            <a:pPr lvl="1"/>
            <a:r>
              <a:rPr dirty="0"/>
              <a:t> Ticket dependency linked to training gaps</a:t>
            </a:r>
          </a:p>
          <a:p>
            <a:pPr lvl="1"/>
            <a:r>
              <a:rPr dirty="0"/>
              <a:t> Inconsistent feature </a:t>
            </a:r>
            <a:r>
              <a:rPr dirty="0" err="1"/>
              <a:t>utilisation</a:t>
            </a:r>
            <a:endParaRPr dirty="0"/>
          </a:p>
          <a:p>
            <a:pPr lvl="1"/>
            <a:endParaRPr dirty="0"/>
          </a:p>
          <a:p>
            <a:pPr lvl="1"/>
            <a:r>
              <a:rPr dirty="0"/>
              <a:t>Strategic Objective: Move from reactive IT support to proactive enablement.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Adoption Maturity Segmentation Model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067592"/>
              </p:ext>
            </p:extLst>
          </p:nvPr>
        </p:nvGraphicFramePr>
        <p:xfrm>
          <a:off x="457200" y="2032000"/>
          <a:ext cx="8229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1700">
                <a:tc>
                  <a:txBody>
                    <a:bodyPr/>
                    <a:lstStyle/>
                    <a:p>
                      <a:r>
                        <a:t>Score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Segment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Strategic 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r>
                        <a:t>&gt;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Engaged power users — Champions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r>
                        <a:t>4–7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Requires targeted enablement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0">
                <a:tc>
                  <a:txBody>
                    <a:bodyPr/>
                    <a:lstStyle/>
                    <a:p>
                      <a:r>
                        <a:t>&lt;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At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Low usage + high support 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Impact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Users completing training demonstrate:</a:t>
            </a:r>
          </a:p>
          <a:p>
            <a:pPr lvl="1"/>
            <a:r>
              <a:rPr dirty="0"/>
              <a:t>+40% higher weekly sessions</a:t>
            </a:r>
          </a:p>
          <a:p>
            <a:pPr lvl="1"/>
            <a:r>
              <a:rPr dirty="0"/>
              <a:t>30% lower ticket rate</a:t>
            </a:r>
          </a:p>
          <a:p>
            <a:pPr lvl="1"/>
            <a:r>
              <a:rPr dirty="0"/>
              <a:t>Higher feature usage diversity</a:t>
            </a:r>
          </a:p>
          <a:p>
            <a:pPr lvl="1"/>
            <a:endParaRPr dirty="0"/>
          </a:p>
          <a:p>
            <a:pPr lvl="1"/>
            <a:r>
              <a:rPr dirty="0"/>
              <a:t>Training is a primary adoption accelerator.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Operational Risk — Ticket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Top Ticket Categories:</a:t>
            </a:r>
          </a:p>
          <a:p>
            <a:pPr lvl="1"/>
            <a:r>
              <a:rPr dirty="0"/>
              <a:t>Performance Issues</a:t>
            </a:r>
          </a:p>
          <a:p>
            <a:pPr lvl="1"/>
            <a:r>
              <a:rPr dirty="0"/>
              <a:t>Access Issues</a:t>
            </a:r>
          </a:p>
          <a:p>
            <a:pPr lvl="1"/>
            <a:r>
              <a:rPr dirty="0"/>
              <a:t>Data Errors</a:t>
            </a:r>
          </a:p>
          <a:p>
            <a:pPr lvl="1"/>
            <a:endParaRPr dirty="0"/>
          </a:p>
          <a:p>
            <a:pPr lvl="1"/>
            <a:r>
              <a:rPr dirty="0"/>
              <a:t>62% of tickets linked to usability friction rather than system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6-Month Transformation Scenario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420772"/>
              </p:ext>
            </p:extLst>
          </p:nvPr>
        </p:nvGraphicFramePr>
        <p:xfrm>
          <a:off x="457200" y="2113280"/>
          <a:ext cx="8229600" cy="4094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0833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Current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 (6 Months)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833">
                <a:tc>
                  <a:txBody>
                    <a:bodyPr/>
                    <a:lstStyle/>
                    <a:p>
                      <a:r>
                        <a:t>Adoption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 maturity increase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833">
                <a:tc>
                  <a:txBody>
                    <a:bodyPr/>
                    <a:lstStyle/>
                    <a:p>
                      <a:r>
                        <a:t>Training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support dependency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833">
                <a:tc>
                  <a:txBody>
                    <a:bodyPr/>
                    <a:lstStyle/>
                    <a:p>
                      <a:r>
                        <a:t>Support Tickets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Operational efficiency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1151">
                <a:tc>
                  <a:txBody>
                    <a:bodyPr/>
                    <a:lstStyle/>
                    <a:p>
                      <a:r>
                        <a:t>Satisfaction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Enhanced employee experience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Power BI Executive Dashboard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</a:t>
            </a:r>
            <a:r>
              <a:rPr dirty="0"/>
              <a:t>Page 1 — Executive Overview:</a:t>
            </a:r>
          </a:p>
          <a:p>
            <a:pPr lvl="1"/>
            <a:r>
              <a:rPr dirty="0"/>
              <a:t> KPI Cards (Adoption, Training, Tickets, Satisfaction)</a:t>
            </a:r>
          </a:p>
          <a:p>
            <a:pPr lvl="1"/>
            <a:r>
              <a:rPr dirty="0"/>
              <a:t> Adoption Trend</a:t>
            </a:r>
          </a:p>
          <a:p>
            <a:pPr lvl="1"/>
            <a:r>
              <a:rPr dirty="0"/>
              <a:t> Department Comparison</a:t>
            </a:r>
          </a:p>
          <a:p>
            <a:pPr marL="457200" lvl="1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971CD-1358-7BDD-3797-7B8A6CA5B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BI Executive Dashboard Structure - Executive Overview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BA7E2-3BD4-C7C3-0F37-F69CF13EB3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629" y="1846263"/>
            <a:ext cx="7211191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816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FB047-E971-BAE7-3775-B56665AC0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BI Executive 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D79F5-CF40-E6EA-7575-EEAB1633F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4592" indent="0">
              <a:buNone/>
            </a:pPr>
            <a:r>
              <a:rPr lang="en-US" dirty="0"/>
              <a:t>Page 2 — Adoption Intelligence:</a:t>
            </a:r>
          </a:p>
          <a:p>
            <a:pPr lvl="1"/>
            <a:r>
              <a:rPr lang="en-US" dirty="0"/>
              <a:t>Training vs Adoption</a:t>
            </a:r>
          </a:p>
          <a:p>
            <a:pPr lvl="1"/>
            <a:r>
              <a:rPr lang="en-US" dirty="0"/>
              <a:t>Adoption Segmentation</a:t>
            </a:r>
          </a:p>
          <a:p>
            <a:pPr lvl="1"/>
            <a:r>
              <a:rPr lang="en-US" dirty="0"/>
              <a:t>Feature Usage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150678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3FADB-6000-6F67-7BAF-9B338AF97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Power BI Executive Dashboard Structure - Adoption Intelligence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57C2BB-748D-3486-0A75-9F3149D65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0442" y="1846263"/>
            <a:ext cx="7107566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819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8F239-D65B-A77B-15B1-4ECEEBA41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Power BI Executive Dashboard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1005A-0D1E-3FD5-D474-98894FF15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64592" indent="0">
              <a:buNone/>
            </a:pPr>
            <a:r>
              <a:rPr lang="en-US" dirty="0"/>
              <a:t>Page 3 — Operational Risk:</a:t>
            </a:r>
          </a:p>
          <a:p>
            <a:pPr lvl="1"/>
            <a:r>
              <a:rPr lang="en-US" dirty="0"/>
              <a:t>Ticket Trend</a:t>
            </a:r>
          </a:p>
          <a:p>
            <a:pPr lvl="1"/>
            <a:r>
              <a:rPr lang="en-US" dirty="0"/>
              <a:t>Category Breakdown</a:t>
            </a:r>
          </a:p>
          <a:p>
            <a:pPr lvl="1"/>
            <a:r>
              <a:rPr lang="en-US" dirty="0"/>
              <a:t>Satisfaction vs Ticket Analysis</a:t>
            </a:r>
          </a:p>
        </p:txBody>
      </p:sp>
    </p:spTree>
    <p:extLst>
      <p:ext uri="{BB962C8B-B14F-4D97-AF65-F5344CB8AC3E}">
        <p14:creationId xmlns:p14="http://schemas.microsoft.com/office/powerpoint/2010/main" val="357654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19A2-1C2D-9BF6-1044-8E6105B86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Power BI Executive Dashboard Structure - Operational Risk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3C7005-B556-3F04-A3BA-2E22A99343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14343" y="1846263"/>
            <a:ext cx="7159764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28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Value to the Maison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initiative positions IT as a strategic enabler of digital excellence.</a:t>
            </a:r>
          </a:p>
          <a:p>
            <a:pPr lvl="1"/>
            <a:endParaRPr dirty="0"/>
          </a:p>
          <a:p>
            <a:pPr marL="201168" lvl="1" indent="0">
              <a:buNone/>
            </a:pPr>
            <a:r>
              <a:rPr dirty="0"/>
              <a:t>Impact:</a:t>
            </a:r>
          </a:p>
          <a:p>
            <a:pPr lvl="1"/>
            <a:r>
              <a:rPr dirty="0"/>
              <a:t>Increased digital maturity</a:t>
            </a:r>
          </a:p>
          <a:p>
            <a:pPr lvl="1"/>
            <a:r>
              <a:rPr dirty="0"/>
              <a:t>Reduced operational friction</a:t>
            </a:r>
          </a:p>
          <a:p>
            <a:pPr lvl="1"/>
            <a:r>
              <a:rPr dirty="0"/>
              <a:t>Stronger cross-functional alignment</a:t>
            </a:r>
          </a:p>
          <a:p>
            <a:pPr lvl="1"/>
            <a:r>
              <a:rPr dirty="0"/>
              <a:t>Elevated employee digital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33</TotalTime>
  <Words>337</Words>
  <Application>Microsoft Office PowerPoint</Application>
  <PresentationFormat>On-screen Show (4:3)</PresentationFormat>
  <Paragraphs>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Calibri</vt:lpstr>
      <vt:lpstr>Calibri Light</vt:lpstr>
      <vt:lpstr>Retrospect</vt:lpstr>
      <vt:lpstr>Digital Workplace Adoption Acceleration Program</vt:lpstr>
      <vt:lpstr>Executive Summary — Digital Workplace Status</vt:lpstr>
      <vt:lpstr>Adoption Maturity Segmentation Model</vt:lpstr>
      <vt:lpstr>Training Impact Analysis</vt:lpstr>
      <vt:lpstr>Operational Risk — Ticket Intelligence</vt:lpstr>
      <vt:lpstr>6-Month Transformation Scenario</vt:lpstr>
      <vt:lpstr>Power BI Executive Dashboard Structure</vt:lpstr>
      <vt:lpstr>Power BI Executive Dashboard Structure - Executive Overview</vt:lpstr>
      <vt:lpstr>Power BI Executive Dashboard Structure</vt:lpstr>
      <vt:lpstr>Power BI Executive Dashboard Structure - Adoption Intelligence</vt:lpstr>
      <vt:lpstr>Power BI Executive Dashboard Structure</vt:lpstr>
      <vt:lpstr>Power BI Executive Dashboard Structure - Operational Risk</vt:lpstr>
      <vt:lpstr>Strategic Value to the Maison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Neliswa</dc:creator>
  <cp:keywords/>
  <dc:description>generated using python-pptx</dc:description>
  <cp:lastModifiedBy>Neliswa Mbeje</cp:lastModifiedBy>
  <cp:revision>5</cp:revision>
  <dcterms:created xsi:type="dcterms:W3CDTF">2013-01-27T09:14:16Z</dcterms:created>
  <dcterms:modified xsi:type="dcterms:W3CDTF">2026-02-18T13:57:08Z</dcterms:modified>
  <cp:category/>
</cp:coreProperties>
</file>